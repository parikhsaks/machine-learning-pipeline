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9" r:id="rId4"/>
    <p:sldId id="260" r:id="rId5"/>
    <p:sldId id="261" r:id="rId6"/>
    <p:sldId id="262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91"/>
    <p:restoredTop sz="94603"/>
  </p:normalViewPr>
  <p:slideViewPr>
    <p:cSldViewPr snapToGrid="0">
      <p:cViewPr varScale="1">
        <p:scale>
          <a:sx n="109" d="100"/>
          <a:sy n="109" d="100"/>
        </p:scale>
        <p:origin x="61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B61BEF0D-F0BB-DE4B-95CE-6DB70DBA9567}" type="datetimeFigureOut">
              <a:rPr lang="en-US" dirty="0"/>
              <a:pPr/>
              <a:t>9/24/25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647F38-B617-4D2F-AE0A-013F0C4D2C57}" type="datetimeFigureOut">
              <a:rPr lang="en-US" dirty="0"/>
              <a:t>9/24/25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7799C9-84D9-46D2-A11E-BCF8A720529D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9/24/25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FA754-D5C3-4E66-96A6-867B257F58DC}" type="datetimeFigureOut">
              <a:rPr lang="en-US" dirty="0"/>
              <a:t>9/24/25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84065D-F351-4B03-BD91-D8A6B8D4B36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9/24/25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9/24/25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9/24/25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9/24/25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9/24/25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9/24/25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9/24/25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9/24/25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9/24/25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9/24/25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9/24/25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9/24/25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9/24/25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9/24/25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8" r:id="rId2"/>
    <p:sldLayoutId id="2147483651" r:id="rId3"/>
    <p:sldLayoutId id="2147483669" r:id="rId4"/>
    <p:sldLayoutId id="2147483653" r:id="rId5"/>
    <p:sldLayoutId id="2147483654" r:id="rId6"/>
    <p:sldLayoutId id="2147483655" r:id="rId7"/>
    <p:sldLayoutId id="2147483656" r:id="rId8"/>
    <p:sldLayoutId id="2147483660" r:id="rId9"/>
    <p:sldLayoutId id="2147483657" r:id="rId10"/>
    <p:sldLayoutId id="2147483663" r:id="rId11"/>
    <p:sldLayoutId id="2147483664" r:id="rId12"/>
    <p:sldLayoutId id="2147483665" r:id="rId13"/>
    <p:sldLayoutId id="2147483666" r:id="rId14"/>
    <p:sldLayoutId id="2147483667" r:id="rId15"/>
    <p:sldLayoutId id="2147483658" r:id="rId16"/>
    <p:sldLayoutId id="2147483659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E058FD-8EA4-5BB6-3E0A-6A8DC0341FA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92398" y="1688123"/>
            <a:ext cx="6815669" cy="1698541"/>
          </a:xfrm>
        </p:spPr>
        <p:txBody>
          <a:bodyPr/>
          <a:lstStyle/>
          <a:p>
            <a:r>
              <a:rPr lang="en-US" dirty="0"/>
              <a:t>CIFAR 10 and LLM SQL Translation System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2BCD02B-5F75-5EA0-9E40-A82CF012F5C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- Sakshi Parikh</a:t>
            </a:r>
          </a:p>
        </p:txBody>
      </p:sp>
    </p:spTree>
    <p:extLst>
      <p:ext uri="{BB962C8B-B14F-4D97-AF65-F5344CB8AC3E}">
        <p14:creationId xmlns:p14="http://schemas.microsoft.com/office/powerpoint/2010/main" val="20714571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B1BA29-BBC2-06A9-0CC7-2AB82B3523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CIFAR 10: Experimental Setup &amp; Methodology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F29778-E728-B542-EE10-3DC7CF114A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Dataset: CIFAR-10</a:t>
            </a:r>
          </a:p>
          <a:p>
            <a:r>
              <a:rPr lang="en-US" b="1" dirty="0"/>
              <a:t>60,000 color images</a:t>
            </a:r>
            <a:r>
              <a:rPr lang="en-US" dirty="0"/>
              <a:t> (32×32 pixels)</a:t>
            </a:r>
          </a:p>
          <a:p>
            <a:r>
              <a:rPr lang="en-US" b="1" dirty="0"/>
              <a:t>10 object classes</a:t>
            </a:r>
            <a:r>
              <a:rPr lang="en-US" dirty="0"/>
              <a:t>: airplane, automobile, bird, cat, deer, dog, frog, horse, ship, truck</a:t>
            </a:r>
          </a:p>
          <a:p>
            <a:r>
              <a:rPr lang="en-US" b="1" dirty="0"/>
              <a:t>Data split</a:t>
            </a:r>
            <a:r>
              <a:rPr lang="en-US" dirty="0"/>
              <a:t>: 45,000 training | 5,000 validation | 10,000 test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7030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DD37F6-5371-B8F7-0A08-B1D1B8568F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CIFAR 10: Performance Results &amp; Comparisons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ABBC9A-FBCE-F15A-44A1-FD1CCEC3B6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1" y="2556932"/>
            <a:ext cx="9601196" cy="3585960"/>
          </a:xfrm>
        </p:spPr>
        <p:txBody>
          <a:bodyPr>
            <a:noAutofit/>
          </a:bodyPr>
          <a:lstStyle/>
          <a:p>
            <a:r>
              <a:rPr lang="en-US" sz="1200" b="1" dirty="0"/>
              <a:t>Dropout is the Single Most Effective </a:t>
            </a:r>
            <a:r>
              <a:rPr lang="en-US" sz="1200" b="1" dirty="0" err="1"/>
              <a:t>Regularizer</a:t>
            </a:r>
            <a:r>
              <a:rPr lang="en-US" sz="1200" dirty="0"/>
              <a:t> </a:t>
            </a:r>
          </a:p>
          <a:p>
            <a:pPr lvl="1"/>
            <a:r>
              <a:rPr lang="en-US" sz="1200" dirty="0"/>
              <a:t>Dropout alone: </a:t>
            </a:r>
            <a:r>
              <a:rPr lang="en-US" sz="1200" b="1" dirty="0"/>
              <a:t>+9.44%</a:t>
            </a:r>
            <a:r>
              <a:rPr lang="en-US" sz="1200" dirty="0"/>
              <a:t> improvement (73.17% → 82.61%)</a:t>
            </a:r>
          </a:p>
          <a:p>
            <a:pPr lvl="1"/>
            <a:r>
              <a:rPr lang="en-US" sz="1200" dirty="0" err="1"/>
              <a:t>BatchNorm</a:t>
            </a:r>
            <a:r>
              <a:rPr lang="en-US" sz="1200" dirty="0"/>
              <a:t> alone: +0.87% improvement (minimal impact)</a:t>
            </a:r>
          </a:p>
          <a:p>
            <a:pPr lvl="1"/>
            <a:r>
              <a:rPr lang="en-US" sz="1200" dirty="0"/>
              <a:t>Combined effect reaches </a:t>
            </a:r>
            <a:r>
              <a:rPr lang="en-US" sz="1200" b="1" dirty="0"/>
              <a:t>85.35%</a:t>
            </a:r>
            <a:r>
              <a:rPr lang="en-US" sz="1200" dirty="0"/>
              <a:t> accuracy</a:t>
            </a:r>
          </a:p>
          <a:p>
            <a:r>
              <a:rPr lang="en-US" sz="1200" b="1" dirty="0"/>
              <a:t>ELU Activation Achieves Best Performance</a:t>
            </a:r>
            <a:r>
              <a:rPr lang="en-US" sz="1200" dirty="0"/>
              <a:t> </a:t>
            </a:r>
          </a:p>
          <a:p>
            <a:pPr lvl="1"/>
            <a:r>
              <a:rPr lang="en-US" sz="1200" b="1" dirty="0"/>
              <a:t>85.45% accuracy</a:t>
            </a:r>
            <a:r>
              <a:rPr lang="en-US" sz="1200" dirty="0"/>
              <a:t> (highest overall)</a:t>
            </a:r>
          </a:p>
          <a:p>
            <a:pPr lvl="1"/>
            <a:r>
              <a:rPr lang="en-US" sz="1200" dirty="0"/>
              <a:t>Smooth negative values handle dying </a:t>
            </a:r>
            <a:r>
              <a:rPr lang="en-US" sz="1200" dirty="0" err="1"/>
              <a:t>ReLU</a:t>
            </a:r>
            <a:r>
              <a:rPr lang="en-US" sz="1200" dirty="0"/>
              <a:t> problem</a:t>
            </a:r>
          </a:p>
          <a:p>
            <a:pPr lvl="1"/>
            <a:r>
              <a:rPr lang="en-US" sz="1200" dirty="0"/>
              <a:t>Only 0.1% better than standard </a:t>
            </a:r>
            <a:r>
              <a:rPr lang="en-US" sz="1200" dirty="0" err="1"/>
              <a:t>ReLU</a:t>
            </a:r>
            <a:r>
              <a:rPr lang="en-US" sz="1200" dirty="0"/>
              <a:t> with proper regularization</a:t>
            </a:r>
          </a:p>
          <a:p>
            <a:r>
              <a:rPr lang="en-US" sz="1200" b="1" dirty="0"/>
              <a:t>Optimal Architecture: 3 Convolutional Blocks</a:t>
            </a:r>
            <a:r>
              <a:rPr lang="en-US" sz="1200" dirty="0"/>
              <a:t> </a:t>
            </a:r>
          </a:p>
          <a:p>
            <a:pPr lvl="1"/>
            <a:r>
              <a:rPr lang="en-US" sz="1200" dirty="0"/>
              <a:t>Best accuracy/efficiency trade-off (85.35% with 814K params)</a:t>
            </a:r>
          </a:p>
          <a:p>
            <a:pPr lvl="1"/>
            <a:r>
              <a:rPr lang="en-US" sz="1200" dirty="0"/>
              <a:t>Deeper networks show diminishing returns</a:t>
            </a:r>
          </a:p>
          <a:p>
            <a:pPr lvl="1"/>
            <a:r>
              <a:rPr lang="en-US" sz="1200" dirty="0"/>
              <a:t>4 blocks: More params (1.4M) but lower accuracy (84.54%)</a:t>
            </a:r>
          </a:p>
        </p:txBody>
      </p:sp>
    </p:spTree>
    <p:extLst>
      <p:ext uri="{BB962C8B-B14F-4D97-AF65-F5344CB8AC3E}">
        <p14:creationId xmlns:p14="http://schemas.microsoft.com/office/powerpoint/2010/main" val="39781037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64AE3A-41DB-DFDB-0D1B-2659C363AC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LLM SQL Translation </a:t>
            </a:r>
            <a:r>
              <a:rPr lang="en-US" dirty="0" err="1"/>
              <a:t>System:System</a:t>
            </a:r>
            <a:r>
              <a:rPr lang="en-US" dirty="0"/>
              <a:t> Architecture &amp; Implementation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B10F91-3CDA-44C0-DEA2-0D1DCBFEE9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b="1" dirty="0"/>
              <a:t>Translation Pipeline</a:t>
            </a:r>
          </a:p>
          <a:p>
            <a:r>
              <a:rPr lang="en-US" b="1" dirty="0"/>
              <a:t>Schema Context Injection</a:t>
            </a:r>
            <a:r>
              <a:rPr lang="en-US" dirty="0"/>
              <a:t>: Provide complete database structure with relationships</a:t>
            </a:r>
          </a:p>
          <a:p>
            <a:r>
              <a:rPr lang="en-US" b="1" dirty="0"/>
              <a:t>Expert Prompt Engineering</a:t>
            </a:r>
            <a:r>
              <a:rPr lang="en-US" dirty="0"/>
              <a:t>: </a:t>
            </a:r>
          </a:p>
          <a:p>
            <a:pPr lvl="1"/>
            <a:r>
              <a:rPr lang="en-US" dirty="0"/>
              <a:t>Include table descriptions, column types, foreign keys</a:t>
            </a:r>
          </a:p>
          <a:p>
            <a:pPr lvl="1"/>
            <a:r>
              <a:rPr lang="en-US" dirty="0"/>
              <a:t>Add few-shot examples for complex queries</a:t>
            </a:r>
          </a:p>
          <a:p>
            <a:pPr lvl="1"/>
            <a:r>
              <a:rPr lang="en-US" dirty="0"/>
              <a:t>Enforce multi-table JOIN requirements</a:t>
            </a:r>
          </a:p>
          <a:p>
            <a:r>
              <a:rPr lang="en-US" b="1" dirty="0"/>
              <a:t>LLM Processing</a:t>
            </a:r>
            <a:r>
              <a:rPr lang="en-US" dirty="0"/>
              <a:t>: Perplexity Sonar-Pro model (temperature=0.1)</a:t>
            </a:r>
          </a:p>
          <a:p>
            <a:r>
              <a:rPr lang="en-US" b="1" dirty="0"/>
              <a:t>SQL Validation</a:t>
            </a:r>
            <a:r>
              <a:rPr lang="en-US" dirty="0"/>
              <a:t>: Execute against SQLite test database with sample data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02840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326982-14A6-00D8-1F33-1D6C789E4F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LLM SQL Translation System: Results &amp; Key Findings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F528D015-BCAE-4CA8-3989-9AE59AB6648F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295400" y="2890520"/>
          <a:ext cx="9601200" cy="2651760"/>
        </p:xfrm>
        <a:graphic>
          <a:graphicData uri="http://schemas.openxmlformats.org/drawingml/2006/table">
            <a:tbl>
              <a:tblPr/>
              <a:tblGrid>
                <a:gridCol w="3200400">
                  <a:extLst>
                    <a:ext uri="{9D8B030D-6E8A-4147-A177-3AD203B41FA5}">
                      <a16:colId xmlns:a16="http://schemas.microsoft.com/office/drawing/2014/main" val="4189109182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295259667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388785867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Metric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Result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Details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8481203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Success Rate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83.3%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10/12 queries translated correctly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053737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Multi-table Requirement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100%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All generated SQL included proper JOINs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65988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Avg Execution Time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2.3ms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Fast query execution on test database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341029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JOIN Accuracy</a:t>
                      </a:r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95%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Correct join conditions and relationships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2402027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58A994E0-CFA5-94A5-93A4-6CDC60983AE6}"/>
              </a:ext>
            </a:extLst>
          </p:cNvPr>
          <p:cNvSpPr txBox="1"/>
          <p:nvPr/>
        </p:nvSpPr>
        <p:spPr>
          <a:xfrm>
            <a:off x="1295400" y="2403593"/>
            <a:ext cx="611944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Performance Metrics</a:t>
            </a:r>
          </a:p>
        </p:txBody>
      </p:sp>
    </p:spTree>
    <p:extLst>
      <p:ext uri="{BB962C8B-B14F-4D97-AF65-F5344CB8AC3E}">
        <p14:creationId xmlns:p14="http://schemas.microsoft.com/office/powerpoint/2010/main" val="25736940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9D8C8D-6CBE-20D0-1381-70FC54443F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4598053"/>
          </a:xfrm>
        </p:spPr>
        <p:txBody>
          <a:bodyPr>
            <a:normAutofit/>
          </a:bodyPr>
          <a:lstStyle/>
          <a:p>
            <a:r>
              <a:rPr lang="en-US" sz="6000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23653776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48</TotalTime>
  <Words>290</Words>
  <Application>Microsoft Macintosh PowerPoint</Application>
  <PresentationFormat>Widescreen</PresentationFormat>
  <Paragraphs>47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Garamond</vt:lpstr>
      <vt:lpstr>Organic</vt:lpstr>
      <vt:lpstr>CIFAR 10 and LLM SQL Translation System</vt:lpstr>
      <vt:lpstr>CIFAR 10: Experimental Setup &amp; Methodology</vt:lpstr>
      <vt:lpstr>CIFAR 10: Performance Results &amp; Comparisons</vt:lpstr>
      <vt:lpstr>LLM SQL Translation System:System Architecture &amp; Implementation </vt:lpstr>
      <vt:lpstr>LLM SQL Translation System: Results &amp; Key Findings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Sakshi Parikh</dc:creator>
  <cp:lastModifiedBy>Sakshi Parikh</cp:lastModifiedBy>
  <cp:revision>3</cp:revision>
  <dcterms:created xsi:type="dcterms:W3CDTF">2025-09-24T21:02:03Z</dcterms:created>
  <dcterms:modified xsi:type="dcterms:W3CDTF">2025-09-24T21:53:01Z</dcterms:modified>
</cp:coreProperties>
</file>