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8"/>
  </p:normalViewPr>
  <p:slideViewPr>
    <p:cSldViewPr snapToGrid="0" snapToObjects="1">
      <p:cViewPr varScale="1">
        <p:scale>
          <a:sx n="121" d="100"/>
          <a:sy n="121" d="100"/>
        </p:scale>
        <p:origin x="176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614238"/>
            <a:ext cx="4947184" cy="2451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Transformer Architecture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8905" y="3597891"/>
            <a:ext cx="4538427" cy="93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Sakshi Parikh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937"/>
                </a:solidFill>
              </a:defRPr>
            </a:pPr>
            <a:r>
              <a:t>Transformer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ENCODER STACK</a:t>
            </a:r>
          </a:p>
          <a:p>
            <a:br/>
            <a:r>
              <a:t>• 6 identical layers</a:t>
            </a:r>
          </a:p>
          <a:p>
            <a:pPr>
              <a:defRPr sz="1600" b="1"/>
            </a:pPr>
            <a:r>
              <a:t>• Each layer contains: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Multi-Head Self-Attention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Position-wise FFN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Residual connections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Layer normalization</a:t>
            </a:r>
          </a:p>
          <a:p>
            <a:br/>
            <a:r>
              <a:t>• Input: Source embeddings +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DECODER STACK</a:t>
            </a:r>
          </a:p>
          <a:p>
            <a:br/>
            <a:r>
              <a:t>• 6 identical layers</a:t>
            </a:r>
          </a:p>
          <a:p>
            <a:pPr>
              <a:defRPr sz="1600" b="1"/>
            </a:pPr>
            <a:r>
              <a:t>• Each layer contains: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Masked Self-Attention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Encoder-Decoder Attention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Position-wise FFN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  → Residual &amp; normalization</a:t>
            </a:r>
          </a:p>
          <a:p>
            <a:br/>
            <a:r>
              <a:t>• Output: Target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937"/>
                </a:solidFill>
              </a:defRPr>
            </a:pPr>
            <a:r>
              <a:t>Self-Attention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962FF"/>
                </a:solidFill>
              </a:defRPr>
            </a:pPr>
            <a:r>
              <a:t>Core Principle: Every position attends to all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47811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Mathematical Formulation:</a:t>
            </a:r>
          </a:p>
          <a:p>
            <a:br>
              <a:rPr dirty="0"/>
            </a:br>
            <a:r>
              <a:rPr dirty="0"/>
              <a:t>1. Compute Query, Key, Value matrices:</a:t>
            </a:r>
          </a:p>
          <a:p>
            <a:pPr>
              <a:defRPr sz="1400">
                <a:solidFill>
                  <a:srgbClr val="404040"/>
                </a:solidFill>
                <a:latin typeface="Courier New"/>
              </a:defRPr>
            </a:pPr>
            <a:r>
              <a:rPr dirty="0"/>
              <a:t>   Q = XW^Q,  K = XW^K,  V = XW^V</a:t>
            </a:r>
          </a:p>
          <a:p>
            <a:br>
              <a:rPr dirty="0"/>
            </a:br>
            <a:r>
              <a:rPr dirty="0"/>
              <a:t>2. Calculate attention scores:</a:t>
            </a:r>
          </a:p>
          <a:p>
            <a:pPr>
              <a:defRPr sz="1400">
                <a:solidFill>
                  <a:srgbClr val="404040"/>
                </a:solidFill>
                <a:latin typeface="Courier New"/>
              </a:defRPr>
            </a:pPr>
            <a:r>
              <a:rPr dirty="0"/>
              <a:t>   Attention(Q,K,V) = </a:t>
            </a:r>
            <a:r>
              <a:rPr dirty="0" err="1"/>
              <a:t>softmax</a:t>
            </a:r>
            <a:r>
              <a:rPr dirty="0"/>
              <a:t>(QK^T/√</a:t>
            </a:r>
            <a:r>
              <a:rPr dirty="0" err="1"/>
              <a:t>d_k</a:t>
            </a:r>
            <a:r>
              <a:rPr dirty="0"/>
              <a:t>)V</a:t>
            </a:r>
            <a:br>
              <a:rPr dirty="0"/>
            </a:br>
            <a:r>
              <a:rPr dirty="0"/>
              <a:t>Key Components:</a:t>
            </a:r>
          </a:p>
          <a:p>
            <a:pPr>
              <a:defRPr sz="1400"/>
            </a:pPr>
            <a:r>
              <a:rPr dirty="0"/>
              <a:t>• Scaling factor √</a:t>
            </a:r>
            <a:r>
              <a:rPr dirty="0" err="1"/>
              <a:t>d_k</a:t>
            </a:r>
            <a:r>
              <a:rPr dirty="0"/>
              <a:t> prevents gradient vanishing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Softmax</a:t>
            </a:r>
            <a:r>
              <a:rPr dirty="0"/>
              <a:t> creates probability distribution</a:t>
            </a:r>
          </a:p>
          <a:p>
            <a:pPr>
              <a:defRPr sz="1400"/>
            </a:pPr>
            <a:r>
              <a:rPr dirty="0"/>
              <a:t>• Parallel computation for all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937"/>
                </a:solidFill>
              </a:defRPr>
            </a:pPr>
            <a:r>
              <a:t>Multi-Head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62FF"/>
                </a:solidFill>
              </a:defRPr>
            </a:pPr>
            <a:r>
              <a:t>Why Multiple Heads?</a:t>
            </a:r>
          </a:p>
          <a:p>
            <a:pPr>
              <a:defRPr sz="1600"/>
            </a:pPr>
            <a:r>
              <a:t>• Different representation subspaces</a:t>
            </a:r>
          </a:p>
          <a:p>
            <a:pPr>
              <a:defRPr sz="1600"/>
            </a:pPr>
            <a:r>
              <a:t>• Attend to different types of information</a:t>
            </a:r>
          </a:p>
          <a:p>
            <a:pPr>
              <a:defRPr sz="1600"/>
            </a:pPr>
            <a:r>
              <a:t>• Enhanced model capacity</a:t>
            </a:r>
          </a:p>
          <a:p>
            <a:br/>
            <a:r>
              <a:t>Implementation Details:</a:t>
            </a:r>
          </a:p>
          <a:p>
            <a:pPr>
              <a:defRPr sz="1600"/>
            </a:pPr>
            <a:r>
              <a:t>• Typical configuration: h = 8 heads</a:t>
            </a:r>
          </a:p>
          <a:p>
            <a:pPr>
              <a:defRPr sz="1600"/>
            </a:pPr>
            <a:r>
              <a:t>• Each head dimension: d_k = d_model / h = 64</a:t>
            </a:r>
          </a:p>
          <a:p>
            <a:pPr>
              <a:defRPr sz="1600"/>
            </a:pPr>
            <a:r>
              <a:t>• Parallel computation maintains efficiency</a:t>
            </a:r>
          </a:p>
          <a:p>
            <a:br/>
            <a:r>
              <a:t>Process:</a:t>
            </a:r>
          </a:p>
          <a:p>
            <a:pPr>
              <a:defRPr sz="1600"/>
            </a:pPr>
            <a:r>
              <a:t>1. Split Q, K, V into h heads</a:t>
            </a:r>
          </a:p>
          <a:p>
            <a:pPr>
              <a:defRPr sz="1600"/>
            </a:pPr>
            <a:r>
              <a:t>2. Apply attention to each head independently</a:t>
            </a:r>
          </a:p>
          <a:p>
            <a:pPr>
              <a:defRPr sz="1600"/>
            </a:pPr>
            <a:r>
              <a:t>3. Concatenate outputs: Concat(head₁, ..., head_h)</a:t>
            </a:r>
          </a:p>
          <a:p>
            <a:pPr>
              <a:defRPr sz="1600"/>
            </a:pPr>
            <a:r>
              <a:t>4. Linear projection: MultiHead = Concat · W^O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37"/>
                </a:solidFill>
              </a:defRPr>
            </a:pPr>
            <a:r>
              <a:t>Positional Encoding &amp; Feed-Forward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Positional Encoding</a:t>
            </a:r>
          </a:p>
          <a:p>
            <a:pPr>
              <a:defRPr sz="1400"/>
            </a:pPr>
            <a:r>
              <a:t>• No inherent notion of position (unlike RNNs)</a:t>
            </a:r>
          </a:p>
          <a:p>
            <a:pPr>
              <a:defRPr sz="1400">
                <a:latin typeface="Courier New"/>
              </a:defRPr>
            </a:pPr>
            <a:r>
              <a:t>• Sinusoidal encoding: PE(pos,2i) = sin(pos/10000^(2i/d))</a:t>
            </a:r>
          </a:p>
          <a:p>
            <a:pPr>
              <a:defRPr sz="1400"/>
            </a:pPr>
            <a:r>
              <a:t>• Allows model to learn relative positions</a:t>
            </a:r>
          </a:p>
          <a:p>
            <a:pPr>
              <a:defRPr sz="1400"/>
            </a:pPr>
            <a:r>
              <a:t>• Added to input embeddings: X' = X +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Position-wise Feed-Forward Network</a:t>
            </a:r>
          </a:p>
          <a:p>
            <a:pPr>
              <a:defRPr sz="1400"/>
            </a:pPr>
            <a:r>
              <a:t>• Two linear transformations with ReLU:</a:t>
            </a:r>
          </a:p>
          <a:p>
            <a:pPr>
              <a:defRPr sz="1400">
                <a:latin typeface="Courier New"/>
              </a:defRPr>
            </a:pPr>
            <a:r>
              <a:t>  FFN(x) = max(0, xW₁ + b₁)W₂ + b₂</a:t>
            </a:r>
          </a:p>
          <a:p>
            <a:pPr>
              <a:defRPr sz="1400"/>
            </a:pPr>
            <a:r>
              <a:t>• Dimensions: d_model=512 → d_ff=2048 → d_model=512</a:t>
            </a:r>
          </a:p>
          <a:p>
            <a:pPr>
              <a:defRPr sz="1400"/>
            </a:pPr>
            <a:r>
              <a:t>• Applied independently to each position</a:t>
            </a:r>
          </a:p>
          <a:p>
            <a:pPr>
              <a:defRPr sz="1400"/>
            </a:pPr>
            <a:r>
              <a:t>• Provides non-linearity and feature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1937"/>
                </a:solidFill>
              </a:defRPr>
            </a:pPr>
            <a:r>
              <a:t>Training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Training Details</a:t>
            </a:r>
          </a:p>
          <a:p>
            <a:br/>
            <a:r>
              <a:t>• Teacher forcing</a:t>
            </a:r>
          </a:p>
          <a:p>
            <a:pPr>
              <a:defRPr sz="1400"/>
            </a:pPr>
            <a:r>
              <a:t>• Label smoothing (ε=0.1)</a:t>
            </a:r>
          </a:p>
          <a:p>
            <a:pPr>
              <a:defRPr sz="1400"/>
            </a:pPr>
            <a:r>
              <a:t>• Adam optimizer</a:t>
            </a:r>
          </a:p>
          <a:p>
            <a:pPr>
              <a:defRPr sz="1400"/>
            </a:pPr>
            <a:r>
              <a:t>• Learning rate scheduling</a:t>
            </a:r>
          </a:p>
          <a:p>
            <a:pPr>
              <a:defRPr sz="1400"/>
            </a:pPr>
            <a:r>
              <a:t>• Dropout (P=0.1)</a:t>
            </a:r>
          </a:p>
          <a:p>
            <a:br/>
            <a:r>
              <a:t>Advantages:</a:t>
            </a:r>
          </a:p>
          <a:p>
            <a:pPr>
              <a:defRPr sz="1400"/>
            </a:pPr>
            <a:r>
              <a:t>✓ Parallelizable</a:t>
            </a:r>
          </a:p>
          <a:p>
            <a:pPr>
              <a:defRPr sz="1400"/>
            </a:pPr>
            <a:r>
              <a:t>✓ Long-range dependencies</a:t>
            </a:r>
          </a:p>
          <a:p>
            <a:pPr>
              <a:defRPr sz="1400"/>
            </a:pPr>
            <a:r>
              <a:t>✓ Interpretable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Applications</a:t>
            </a:r>
          </a:p>
          <a:p>
            <a:br/>
            <a:r>
              <a:t>NLP Tasks:</a:t>
            </a:r>
          </a:p>
          <a:p>
            <a:pPr>
              <a:defRPr sz="1400"/>
            </a:pPr>
            <a:r>
              <a:t>• Machine Translation</a:t>
            </a:r>
          </a:p>
          <a:p>
            <a:pPr>
              <a:defRPr sz="1400"/>
            </a:pPr>
            <a:r>
              <a:t>• Text Generation (GPT)</a:t>
            </a:r>
          </a:p>
          <a:p>
            <a:pPr>
              <a:defRPr sz="1400"/>
            </a:pPr>
            <a:r>
              <a:t>• BERT &amp; variants</a:t>
            </a:r>
          </a:p>
          <a:p>
            <a:br/>
            <a:r>
              <a:t>Beyond NLP:</a:t>
            </a:r>
          </a:p>
          <a:p>
            <a:pPr>
              <a:defRPr sz="1400"/>
            </a:pPr>
            <a:r>
              <a:t>• Vision Transformer (ViT)</a:t>
            </a:r>
          </a:p>
          <a:p>
            <a:pPr>
              <a:defRPr sz="1400"/>
            </a:pPr>
            <a:r>
              <a:t>• DALL-E, CLIP</a:t>
            </a:r>
          </a:p>
          <a:p>
            <a:pPr>
              <a:defRPr sz="1400"/>
            </a:pPr>
            <a:r>
              <a:t>• AlphaFold (protein folding)</a:t>
            </a:r>
          </a:p>
          <a:p>
            <a:pPr>
              <a:defRPr sz="1400"/>
            </a:pPr>
            <a:r>
              <a:t>• Time series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A1937"/>
                </a:solidFill>
              </a:defRPr>
            </a:pPr>
            <a:r>
              <a:t>The Transformer has revolutionized deep learning across domains!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497</Words>
  <Application>Microsoft Macintosh PowerPoint</Application>
  <PresentationFormat>On-screen Show (16:9)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Parikh</cp:lastModifiedBy>
  <cp:revision>2</cp:revision>
  <dcterms:created xsi:type="dcterms:W3CDTF">2013-01-27T09:14:16Z</dcterms:created>
  <dcterms:modified xsi:type="dcterms:W3CDTF">2025-10-15T18:16:22Z</dcterms:modified>
  <cp:category/>
</cp:coreProperties>
</file>