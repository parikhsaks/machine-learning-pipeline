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8"/>
  </p:normalViewPr>
  <p:slideViewPr>
    <p:cSldViewPr snapToGrid="0" snapToObjects="1">
      <p:cViewPr varScale="1">
        <p:scale>
          <a:sx n="121" d="100"/>
          <a:sy n="121" d="100"/>
        </p:scale>
        <p:origin x="176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E5D325-BC24-4B53-BAB9-67529D0566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D297D32-E5B3-489F-B515-6C6C5B5FD0B6}">
      <dgm:prSet/>
      <dgm:spPr/>
      <dgm:t>
        <a:bodyPr/>
        <a:lstStyle/>
        <a:p>
          <a:r>
            <a:rPr lang="en-US" b="1"/>
            <a:t>RNN/LSTM Limitations:</a:t>
          </a:r>
          <a:endParaRPr lang="en-US"/>
        </a:p>
      </dgm:t>
    </dgm:pt>
    <dgm:pt modelId="{793587F3-7370-40DF-B330-680E7BD65E0E}" type="parTrans" cxnId="{4D5317B0-B421-42F1-9E00-EFCC35CA09B0}">
      <dgm:prSet/>
      <dgm:spPr/>
      <dgm:t>
        <a:bodyPr/>
        <a:lstStyle/>
        <a:p>
          <a:endParaRPr lang="en-US"/>
        </a:p>
      </dgm:t>
    </dgm:pt>
    <dgm:pt modelId="{8B64D9AF-9AFD-412B-BF74-C117E6478F14}" type="sibTrans" cxnId="{4D5317B0-B421-42F1-9E00-EFCC35CA09B0}">
      <dgm:prSet/>
      <dgm:spPr/>
      <dgm:t>
        <a:bodyPr/>
        <a:lstStyle/>
        <a:p>
          <a:endParaRPr lang="en-US"/>
        </a:p>
      </dgm:t>
    </dgm:pt>
    <dgm:pt modelId="{052E4067-4161-4C55-9110-8107ECF3B7EA}">
      <dgm:prSet/>
      <dgm:spPr/>
      <dgm:t>
        <a:bodyPr/>
        <a:lstStyle/>
        <a:p>
          <a:r>
            <a:rPr lang="en-US"/>
            <a:t>❌ Sequential Processing</a:t>
          </a:r>
        </a:p>
      </dgm:t>
    </dgm:pt>
    <dgm:pt modelId="{ACEB41C9-D27F-42D8-84D7-12068DB32249}" type="parTrans" cxnId="{A3EAC804-61CD-443C-AC24-316C6F758982}">
      <dgm:prSet/>
      <dgm:spPr/>
      <dgm:t>
        <a:bodyPr/>
        <a:lstStyle/>
        <a:p>
          <a:endParaRPr lang="en-US"/>
        </a:p>
      </dgm:t>
    </dgm:pt>
    <dgm:pt modelId="{76892018-2EF2-4C7B-90DA-672351CFB4CA}" type="sibTrans" cxnId="{A3EAC804-61CD-443C-AC24-316C6F758982}">
      <dgm:prSet/>
      <dgm:spPr/>
      <dgm:t>
        <a:bodyPr/>
        <a:lstStyle/>
        <a:p>
          <a:endParaRPr lang="en-US"/>
        </a:p>
      </dgm:t>
    </dgm:pt>
    <dgm:pt modelId="{EE250CD2-1BCF-43C2-AF0D-88D09AB8E555}">
      <dgm:prSet/>
      <dgm:spPr/>
      <dgm:t>
        <a:bodyPr/>
        <a:lstStyle/>
        <a:p>
          <a:r>
            <a:rPr lang="en-US"/>
            <a:t>Must process word-by-word</a:t>
          </a:r>
        </a:p>
      </dgm:t>
    </dgm:pt>
    <dgm:pt modelId="{2DB47571-C0AE-493F-A806-EA8C41FA6329}" type="parTrans" cxnId="{F9ED68A6-FDD5-4FB8-99FD-080EB64974CA}">
      <dgm:prSet/>
      <dgm:spPr/>
      <dgm:t>
        <a:bodyPr/>
        <a:lstStyle/>
        <a:p>
          <a:endParaRPr lang="en-US"/>
        </a:p>
      </dgm:t>
    </dgm:pt>
    <dgm:pt modelId="{2E200D6B-62E5-43C8-BA4B-7C0B431F2DB3}" type="sibTrans" cxnId="{F9ED68A6-FDD5-4FB8-99FD-080EB64974CA}">
      <dgm:prSet/>
      <dgm:spPr/>
      <dgm:t>
        <a:bodyPr/>
        <a:lstStyle/>
        <a:p>
          <a:endParaRPr lang="en-US"/>
        </a:p>
      </dgm:t>
    </dgm:pt>
    <dgm:pt modelId="{DAE8BA50-0CFF-4840-8FA5-7D8D5DA8E7CE}">
      <dgm:prSet/>
      <dgm:spPr/>
      <dgm:t>
        <a:bodyPr/>
        <a:lstStyle/>
        <a:p>
          <a:r>
            <a:rPr lang="en-US"/>
            <a:t>Can't parallelize = SLOW training</a:t>
          </a:r>
        </a:p>
      </dgm:t>
    </dgm:pt>
    <dgm:pt modelId="{0510545F-961E-4974-ABE7-15E2FC1E5BA1}" type="parTrans" cxnId="{F95EE4CD-9E05-4AF8-B3BF-D3FDF0E7C207}">
      <dgm:prSet/>
      <dgm:spPr/>
      <dgm:t>
        <a:bodyPr/>
        <a:lstStyle/>
        <a:p>
          <a:endParaRPr lang="en-US"/>
        </a:p>
      </dgm:t>
    </dgm:pt>
    <dgm:pt modelId="{871F6304-5CD9-4A4C-9358-C4E62D9E98AA}" type="sibTrans" cxnId="{F95EE4CD-9E05-4AF8-B3BF-D3FDF0E7C207}">
      <dgm:prSet/>
      <dgm:spPr/>
      <dgm:t>
        <a:bodyPr/>
        <a:lstStyle/>
        <a:p>
          <a:endParaRPr lang="en-US"/>
        </a:p>
      </dgm:t>
    </dgm:pt>
    <dgm:pt modelId="{2F7CDB4C-AB30-4C1B-A40D-3FC5D651ED86}">
      <dgm:prSet/>
      <dgm:spPr/>
      <dgm:t>
        <a:bodyPr/>
        <a:lstStyle/>
        <a:p>
          <a:r>
            <a:rPr lang="en-US"/>
            <a:t>❌ Long-Range Dependencies</a:t>
          </a:r>
        </a:p>
      </dgm:t>
    </dgm:pt>
    <dgm:pt modelId="{06CA0B9E-3FB4-492A-948A-FA2FD1FE5CE1}" type="parTrans" cxnId="{D32B6935-F19B-4F8B-86C9-240DD686A6C6}">
      <dgm:prSet/>
      <dgm:spPr/>
      <dgm:t>
        <a:bodyPr/>
        <a:lstStyle/>
        <a:p>
          <a:endParaRPr lang="en-US"/>
        </a:p>
      </dgm:t>
    </dgm:pt>
    <dgm:pt modelId="{1AD0DB8B-2380-4698-BE98-195D5B96B3C2}" type="sibTrans" cxnId="{D32B6935-F19B-4F8B-86C9-240DD686A6C6}">
      <dgm:prSet/>
      <dgm:spPr/>
      <dgm:t>
        <a:bodyPr/>
        <a:lstStyle/>
        <a:p>
          <a:endParaRPr lang="en-US"/>
        </a:p>
      </dgm:t>
    </dgm:pt>
    <dgm:pt modelId="{E8D70E0B-4029-4B82-97DE-845668809812}">
      <dgm:prSet/>
      <dgm:spPr/>
      <dgm:t>
        <a:bodyPr/>
        <a:lstStyle/>
        <a:p>
          <a:r>
            <a:rPr lang="en-US"/>
            <a:t>Information gets 'diluted'</a:t>
          </a:r>
        </a:p>
      </dgm:t>
    </dgm:pt>
    <dgm:pt modelId="{461864C3-A5C5-4F2B-BE6A-1318C4482DD2}" type="parTrans" cxnId="{43FD3E9E-3C10-40D6-8F8A-723B8E6467E9}">
      <dgm:prSet/>
      <dgm:spPr/>
      <dgm:t>
        <a:bodyPr/>
        <a:lstStyle/>
        <a:p>
          <a:endParaRPr lang="en-US"/>
        </a:p>
      </dgm:t>
    </dgm:pt>
    <dgm:pt modelId="{098367C3-E304-4893-BC85-F307936AD254}" type="sibTrans" cxnId="{43FD3E9E-3C10-40D6-8F8A-723B8E6467E9}">
      <dgm:prSet/>
      <dgm:spPr/>
      <dgm:t>
        <a:bodyPr/>
        <a:lstStyle/>
        <a:p>
          <a:endParaRPr lang="en-US"/>
        </a:p>
      </dgm:t>
    </dgm:pt>
    <dgm:pt modelId="{01B4E610-6AE5-4B2C-AC49-F2D9B7C7D250}">
      <dgm:prSet/>
      <dgm:spPr/>
      <dgm:t>
        <a:bodyPr/>
        <a:lstStyle/>
        <a:p>
          <a:r>
            <a:rPr lang="en-US"/>
            <a:t>Gradient vanishing over distance</a:t>
          </a:r>
        </a:p>
      </dgm:t>
    </dgm:pt>
    <dgm:pt modelId="{FBF9DA53-FFB1-4552-92E2-F56E3E7B316A}" type="parTrans" cxnId="{FA38C84E-92A4-487F-8D86-A20F75C48026}">
      <dgm:prSet/>
      <dgm:spPr/>
      <dgm:t>
        <a:bodyPr/>
        <a:lstStyle/>
        <a:p>
          <a:endParaRPr lang="en-US"/>
        </a:p>
      </dgm:t>
    </dgm:pt>
    <dgm:pt modelId="{8875F25F-4399-4A69-B5B3-48AC16A65127}" type="sibTrans" cxnId="{FA38C84E-92A4-487F-8D86-A20F75C48026}">
      <dgm:prSet/>
      <dgm:spPr/>
      <dgm:t>
        <a:bodyPr/>
        <a:lstStyle/>
        <a:p>
          <a:endParaRPr lang="en-US"/>
        </a:p>
      </dgm:t>
    </dgm:pt>
    <dgm:pt modelId="{C3513D5B-EACC-4B2D-AC09-CCAF4C8B0A6C}">
      <dgm:prSet/>
      <dgm:spPr/>
      <dgm:t>
        <a:bodyPr/>
        <a:lstStyle/>
        <a:p>
          <a:r>
            <a:rPr lang="en-US"/>
            <a:t>❌ Fixed-Size Hidden State</a:t>
          </a:r>
        </a:p>
      </dgm:t>
    </dgm:pt>
    <dgm:pt modelId="{7310E2A3-12E7-4E19-833F-939100DB1141}" type="parTrans" cxnId="{1E677764-8807-40C7-9132-85FE84C17FAF}">
      <dgm:prSet/>
      <dgm:spPr/>
      <dgm:t>
        <a:bodyPr/>
        <a:lstStyle/>
        <a:p>
          <a:endParaRPr lang="en-US"/>
        </a:p>
      </dgm:t>
    </dgm:pt>
    <dgm:pt modelId="{0965BEFE-5E53-4D33-B8DD-EBC71CEB895E}" type="sibTrans" cxnId="{1E677764-8807-40C7-9132-85FE84C17FAF}">
      <dgm:prSet/>
      <dgm:spPr/>
      <dgm:t>
        <a:bodyPr/>
        <a:lstStyle/>
        <a:p>
          <a:endParaRPr lang="en-US"/>
        </a:p>
      </dgm:t>
    </dgm:pt>
    <dgm:pt modelId="{D573EEE4-7B20-4798-B3B6-253F342F9E02}">
      <dgm:prSet/>
      <dgm:spPr/>
      <dgm:t>
        <a:bodyPr/>
        <a:lstStyle/>
        <a:p>
          <a:r>
            <a:rPr lang="en-US"/>
            <a:t>Bottleneck for information</a:t>
          </a:r>
        </a:p>
      </dgm:t>
    </dgm:pt>
    <dgm:pt modelId="{4874F608-7DAC-4EE6-B913-593D544B5208}" type="parTrans" cxnId="{10CB8398-64BA-4D61-A60A-4A5C03E191AF}">
      <dgm:prSet/>
      <dgm:spPr/>
      <dgm:t>
        <a:bodyPr/>
        <a:lstStyle/>
        <a:p>
          <a:endParaRPr lang="en-US"/>
        </a:p>
      </dgm:t>
    </dgm:pt>
    <dgm:pt modelId="{5210AA55-76B0-4F96-9452-305864DD3DF6}" type="sibTrans" cxnId="{10CB8398-64BA-4D61-A60A-4A5C03E191AF}">
      <dgm:prSet/>
      <dgm:spPr/>
      <dgm:t>
        <a:bodyPr/>
        <a:lstStyle/>
        <a:p>
          <a:endParaRPr lang="en-US"/>
        </a:p>
      </dgm:t>
    </dgm:pt>
    <dgm:pt modelId="{779A7C24-8357-D944-8A0E-27BFE796CF89}" type="pres">
      <dgm:prSet presAssocID="{2EE5D325-BC24-4B53-BAB9-67529D056670}" presName="linear" presStyleCnt="0">
        <dgm:presLayoutVars>
          <dgm:animLvl val="lvl"/>
          <dgm:resizeHandles val="exact"/>
        </dgm:presLayoutVars>
      </dgm:prSet>
      <dgm:spPr/>
    </dgm:pt>
    <dgm:pt modelId="{A372A433-CBF6-A043-8822-CE35B0F8D04C}" type="pres">
      <dgm:prSet presAssocID="{1D297D32-E5B3-489F-B515-6C6C5B5FD0B6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A3B04092-EBC1-4342-8E13-8B525D7D45D0}" type="pres">
      <dgm:prSet presAssocID="{8B64D9AF-9AFD-412B-BF74-C117E6478F14}" presName="spacer" presStyleCnt="0"/>
      <dgm:spPr/>
    </dgm:pt>
    <dgm:pt modelId="{CFF71037-0976-9940-AE02-CF91A65A722A}" type="pres">
      <dgm:prSet presAssocID="{052E4067-4161-4C55-9110-8107ECF3B7EA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A1F7BA75-BA7B-194A-859C-B2A4720FEF7D}" type="pres">
      <dgm:prSet presAssocID="{76892018-2EF2-4C7B-90DA-672351CFB4CA}" presName="spacer" presStyleCnt="0"/>
      <dgm:spPr/>
    </dgm:pt>
    <dgm:pt modelId="{E60630C3-B783-5D41-929E-9D26DA34C8F6}" type="pres">
      <dgm:prSet presAssocID="{EE250CD2-1BCF-43C2-AF0D-88D09AB8E555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82326AC5-12F4-D743-A0F0-747C594BF33E}" type="pres">
      <dgm:prSet presAssocID="{2E200D6B-62E5-43C8-BA4B-7C0B431F2DB3}" presName="spacer" presStyleCnt="0"/>
      <dgm:spPr/>
    </dgm:pt>
    <dgm:pt modelId="{4BE54841-2221-7E46-A907-3DA187AA771A}" type="pres">
      <dgm:prSet presAssocID="{DAE8BA50-0CFF-4840-8FA5-7D8D5DA8E7CE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F865EE9A-CCE6-D540-BCCE-941E7CCDF784}" type="pres">
      <dgm:prSet presAssocID="{871F6304-5CD9-4A4C-9358-C4E62D9E98AA}" presName="spacer" presStyleCnt="0"/>
      <dgm:spPr/>
    </dgm:pt>
    <dgm:pt modelId="{BF3E4D7A-6F53-5745-95DB-7CEE833EED61}" type="pres">
      <dgm:prSet presAssocID="{2F7CDB4C-AB30-4C1B-A40D-3FC5D651ED86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AC4E0D84-AE90-1944-A800-11A45927F943}" type="pres">
      <dgm:prSet presAssocID="{1AD0DB8B-2380-4698-BE98-195D5B96B3C2}" presName="spacer" presStyleCnt="0"/>
      <dgm:spPr/>
    </dgm:pt>
    <dgm:pt modelId="{7CBB74F3-AADE-B54E-B17C-0F2242C4B102}" type="pres">
      <dgm:prSet presAssocID="{E8D70E0B-4029-4B82-97DE-845668809812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3BE45B88-4572-A04E-BCED-47E685871290}" type="pres">
      <dgm:prSet presAssocID="{098367C3-E304-4893-BC85-F307936AD254}" presName="spacer" presStyleCnt="0"/>
      <dgm:spPr/>
    </dgm:pt>
    <dgm:pt modelId="{C1CAE6DB-69FC-C842-9D59-FC59F2308420}" type="pres">
      <dgm:prSet presAssocID="{01B4E610-6AE5-4B2C-AC49-F2D9B7C7D250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B82AC758-A0F0-DF4F-B713-7D7775D140FA}" type="pres">
      <dgm:prSet presAssocID="{8875F25F-4399-4A69-B5B3-48AC16A65127}" presName="spacer" presStyleCnt="0"/>
      <dgm:spPr/>
    </dgm:pt>
    <dgm:pt modelId="{88F89F68-C447-4548-B1E0-120FF7741F5F}" type="pres">
      <dgm:prSet presAssocID="{C3513D5B-EACC-4B2D-AC09-CCAF4C8B0A6C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B7E0F1EA-D32C-4247-BB7D-D56F07DC6B3E}" type="pres">
      <dgm:prSet presAssocID="{0965BEFE-5E53-4D33-B8DD-EBC71CEB895E}" presName="spacer" presStyleCnt="0"/>
      <dgm:spPr/>
    </dgm:pt>
    <dgm:pt modelId="{EC43BEBA-ACA5-6F46-AB7F-FE24268678B4}" type="pres">
      <dgm:prSet presAssocID="{D573EEE4-7B20-4798-B3B6-253F342F9E02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A3EAC804-61CD-443C-AC24-316C6F758982}" srcId="{2EE5D325-BC24-4B53-BAB9-67529D056670}" destId="{052E4067-4161-4C55-9110-8107ECF3B7EA}" srcOrd="1" destOrd="0" parTransId="{ACEB41C9-D27F-42D8-84D7-12068DB32249}" sibTransId="{76892018-2EF2-4C7B-90DA-672351CFB4CA}"/>
    <dgm:cxn modelId="{D32B6935-F19B-4F8B-86C9-240DD686A6C6}" srcId="{2EE5D325-BC24-4B53-BAB9-67529D056670}" destId="{2F7CDB4C-AB30-4C1B-A40D-3FC5D651ED86}" srcOrd="4" destOrd="0" parTransId="{06CA0B9E-3FB4-492A-948A-FA2FD1FE5CE1}" sibTransId="{1AD0DB8B-2380-4698-BE98-195D5B96B3C2}"/>
    <dgm:cxn modelId="{70DB4D36-11DC-ED41-9575-AF06BB7D3C0A}" type="presOf" srcId="{DAE8BA50-0CFF-4840-8FA5-7D8D5DA8E7CE}" destId="{4BE54841-2221-7E46-A907-3DA187AA771A}" srcOrd="0" destOrd="0" presId="urn:microsoft.com/office/officeart/2005/8/layout/vList2"/>
    <dgm:cxn modelId="{FA38C84E-92A4-487F-8D86-A20F75C48026}" srcId="{2EE5D325-BC24-4B53-BAB9-67529D056670}" destId="{01B4E610-6AE5-4B2C-AC49-F2D9B7C7D250}" srcOrd="6" destOrd="0" parTransId="{FBF9DA53-FFB1-4552-92E2-F56E3E7B316A}" sibTransId="{8875F25F-4399-4A69-B5B3-48AC16A65127}"/>
    <dgm:cxn modelId="{A91CFA63-D3C8-7B43-BD52-5930B1FF1895}" type="presOf" srcId="{D573EEE4-7B20-4798-B3B6-253F342F9E02}" destId="{EC43BEBA-ACA5-6F46-AB7F-FE24268678B4}" srcOrd="0" destOrd="0" presId="urn:microsoft.com/office/officeart/2005/8/layout/vList2"/>
    <dgm:cxn modelId="{1E677764-8807-40C7-9132-85FE84C17FAF}" srcId="{2EE5D325-BC24-4B53-BAB9-67529D056670}" destId="{C3513D5B-EACC-4B2D-AC09-CCAF4C8B0A6C}" srcOrd="7" destOrd="0" parTransId="{7310E2A3-12E7-4E19-833F-939100DB1141}" sibTransId="{0965BEFE-5E53-4D33-B8DD-EBC71CEB895E}"/>
    <dgm:cxn modelId="{EBF8216D-9593-A545-A5FF-9678110E0CAD}" type="presOf" srcId="{E8D70E0B-4029-4B82-97DE-845668809812}" destId="{7CBB74F3-AADE-B54E-B17C-0F2242C4B102}" srcOrd="0" destOrd="0" presId="urn:microsoft.com/office/officeart/2005/8/layout/vList2"/>
    <dgm:cxn modelId="{54E8856E-0461-5246-957E-D87F49CC6F7B}" type="presOf" srcId="{1D297D32-E5B3-489F-B515-6C6C5B5FD0B6}" destId="{A372A433-CBF6-A043-8822-CE35B0F8D04C}" srcOrd="0" destOrd="0" presId="urn:microsoft.com/office/officeart/2005/8/layout/vList2"/>
    <dgm:cxn modelId="{FAFCE987-BD30-0241-9A7E-BA021A5C9DE5}" type="presOf" srcId="{01B4E610-6AE5-4B2C-AC49-F2D9B7C7D250}" destId="{C1CAE6DB-69FC-C842-9D59-FC59F2308420}" srcOrd="0" destOrd="0" presId="urn:microsoft.com/office/officeart/2005/8/layout/vList2"/>
    <dgm:cxn modelId="{10CB8398-64BA-4D61-A60A-4A5C03E191AF}" srcId="{2EE5D325-BC24-4B53-BAB9-67529D056670}" destId="{D573EEE4-7B20-4798-B3B6-253F342F9E02}" srcOrd="8" destOrd="0" parTransId="{4874F608-7DAC-4EE6-B913-593D544B5208}" sibTransId="{5210AA55-76B0-4F96-9452-305864DD3DF6}"/>
    <dgm:cxn modelId="{43FD3E9E-3C10-40D6-8F8A-723B8E6467E9}" srcId="{2EE5D325-BC24-4B53-BAB9-67529D056670}" destId="{E8D70E0B-4029-4B82-97DE-845668809812}" srcOrd="5" destOrd="0" parTransId="{461864C3-A5C5-4F2B-BE6A-1318C4482DD2}" sibTransId="{098367C3-E304-4893-BC85-F307936AD254}"/>
    <dgm:cxn modelId="{F9ED68A6-FDD5-4FB8-99FD-080EB64974CA}" srcId="{2EE5D325-BC24-4B53-BAB9-67529D056670}" destId="{EE250CD2-1BCF-43C2-AF0D-88D09AB8E555}" srcOrd="2" destOrd="0" parTransId="{2DB47571-C0AE-493F-A806-EA8C41FA6329}" sibTransId="{2E200D6B-62E5-43C8-BA4B-7C0B431F2DB3}"/>
    <dgm:cxn modelId="{6DF90BB0-C049-F44C-8319-8B83FE55123C}" type="presOf" srcId="{2F7CDB4C-AB30-4C1B-A40D-3FC5D651ED86}" destId="{BF3E4D7A-6F53-5745-95DB-7CEE833EED61}" srcOrd="0" destOrd="0" presId="urn:microsoft.com/office/officeart/2005/8/layout/vList2"/>
    <dgm:cxn modelId="{4D5317B0-B421-42F1-9E00-EFCC35CA09B0}" srcId="{2EE5D325-BC24-4B53-BAB9-67529D056670}" destId="{1D297D32-E5B3-489F-B515-6C6C5B5FD0B6}" srcOrd="0" destOrd="0" parTransId="{793587F3-7370-40DF-B330-680E7BD65E0E}" sibTransId="{8B64D9AF-9AFD-412B-BF74-C117E6478F14}"/>
    <dgm:cxn modelId="{34C08CC6-7510-694D-81AF-2BA51A649821}" type="presOf" srcId="{2EE5D325-BC24-4B53-BAB9-67529D056670}" destId="{779A7C24-8357-D944-8A0E-27BFE796CF89}" srcOrd="0" destOrd="0" presId="urn:microsoft.com/office/officeart/2005/8/layout/vList2"/>
    <dgm:cxn modelId="{F95EE4CD-9E05-4AF8-B3BF-D3FDF0E7C207}" srcId="{2EE5D325-BC24-4B53-BAB9-67529D056670}" destId="{DAE8BA50-0CFF-4840-8FA5-7D8D5DA8E7CE}" srcOrd="3" destOrd="0" parTransId="{0510545F-961E-4974-ABE7-15E2FC1E5BA1}" sibTransId="{871F6304-5CD9-4A4C-9358-C4E62D9E98AA}"/>
    <dgm:cxn modelId="{88772FF1-A010-8E46-A657-5871A720B432}" type="presOf" srcId="{C3513D5B-EACC-4B2D-AC09-CCAF4C8B0A6C}" destId="{88F89F68-C447-4548-B1E0-120FF7741F5F}" srcOrd="0" destOrd="0" presId="urn:microsoft.com/office/officeart/2005/8/layout/vList2"/>
    <dgm:cxn modelId="{5B47C2F4-F3AC-A146-AE70-1B488D225A43}" type="presOf" srcId="{EE250CD2-1BCF-43C2-AF0D-88D09AB8E555}" destId="{E60630C3-B783-5D41-929E-9D26DA34C8F6}" srcOrd="0" destOrd="0" presId="urn:microsoft.com/office/officeart/2005/8/layout/vList2"/>
    <dgm:cxn modelId="{8A223AFA-1C4B-0D4D-AC17-5409EE43DA4A}" type="presOf" srcId="{052E4067-4161-4C55-9110-8107ECF3B7EA}" destId="{CFF71037-0976-9940-AE02-CF91A65A722A}" srcOrd="0" destOrd="0" presId="urn:microsoft.com/office/officeart/2005/8/layout/vList2"/>
    <dgm:cxn modelId="{11C0B102-F31F-D14E-B410-A650ED1944D9}" type="presParOf" srcId="{779A7C24-8357-D944-8A0E-27BFE796CF89}" destId="{A372A433-CBF6-A043-8822-CE35B0F8D04C}" srcOrd="0" destOrd="0" presId="urn:microsoft.com/office/officeart/2005/8/layout/vList2"/>
    <dgm:cxn modelId="{7145484E-62E5-6B4D-9730-178160E18855}" type="presParOf" srcId="{779A7C24-8357-D944-8A0E-27BFE796CF89}" destId="{A3B04092-EBC1-4342-8E13-8B525D7D45D0}" srcOrd="1" destOrd="0" presId="urn:microsoft.com/office/officeart/2005/8/layout/vList2"/>
    <dgm:cxn modelId="{432BE75F-9354-B644-B6BE-DA1CA3CAF1C8}" type="presParOf" srcId="{779A7C24-8357-D944-8A0E-27BFE796CF89}" destId="{CFF71037-0976-9940-AE02-CF91A65A722A}" srcOrd="2" destOrd="0" presId="urn:microsoft.com/office/officeart/2005/8/layout/vList2"/>
    <dgm:cxn modelId="{EC64A708-6068-5441-93BB-1BC5448CD927}" type="presParOf" srcId="{779A7C24-8357-D944-8A0E-27BFE796CF89}" destId="{A1F7BA75-BA7B-194A-859C-B2A4720FEF7D}" srcOrd="3" destOrd="0" presId="urn:microsoft.com/office/officeart/2005/8/layout/vList2"/>
    <dgm:cxn modelId="{B60407A5-2884-0840-8C13-7068101062C4}" type="presParOf" srcId="{779A7C24-8357-D944-8A0E-27BFE796CF89}" destId="{E60630C3-B783-5D41-929E-9D26DA34C8F6}" srcOrd="4" destOrd="0" presId="urn:microsoft.com/office/officeart/2005/8/layout/vList2"/>
    <dgm:cxn modelId="{92B46313-1AFB-3040-AAB8-19E468BD51B6}" type="presParOf" srcId="{779A7C24-8357-D944-8A0E-27BFE796CF89}" destId="{82326AC5-12F4-D743-A0F0-747C594BF33E}" srcOrd="5" destOrd="0" presId="urn:microsoft.com/office/officeart/2005/8/layout/vList2"/>
    <dgm:cxn modelId="{CFAE4053-8E68-D24D-B312-AD9C47F38E63}" type="presParOf" srcId="{779A7C24-8357-D944-8A0E-27BFE796CF89}" destId="{4BE54841-2221-7E46-A907-3DA187AA771A}" srcOrd="6" destOrd="0" presId="urn:microsoft.com/office/officeart/2005/8/layout/vList2"/>
    <dgm:cxn modelId="{08821BAF-9E17-FC4C-BAFF-173681E38F92}" type="presParOf" srcId="{779A7C24-8357-D944-8A0E-27BFE796CF89}" destId="{F865EE9A-CCE6-D540-BCCE-941E7CCDF784}" srcOrd="7" destOrd="0" presId="urn:microsoft.com/office/officeart/2005/8/layout/vList2"/>
    <dgm:cxn modelId="{AB0D1202-8400-2845-84DC-C3B55FAFF4CD}" type="presParOf" srcId="{779A7C24-8357-D944-8A0E-27BFE796CF89}" destId="{BF3E4D7A-6F53-5745-95DB-7CEE833EED61}" srcOrd="8" destOrd="0" presId="urn:microsoft.com/office/officeart/2005/8/layout/vList2"/>
    <dgm:cxn modelId="{22AE5E20-FD4A-2348-AA31-AE8BABC3FC01}" type="presParOf" srcId="{779A7C24-8357-D944-8A0E-27BFE796CF89}" destId="{AC4E0D84-AE90-1944-A800-11A45927F943}" srcOrd="9" destOrd="0" presId="urn:microsoft.com/office/officeart/2005/8/layout/vList2"/>
    <dgm:cxn modelId="{FF0BBEBB-D12B-8C44-984E-EC1D103F8D14}" type="presParOf" srcId="{779A7C24-8357-D944-8A0E-27BFE796CF89}" destId="{7CBB74F3-AADE-B54E-B17C-0F2242C4B102}" srcOrd="10" destOrd="0" presId="urn:microsoft.com/office/officeart/2005/8/layout/vList2"/>
    <dgm:cxn modelId="{704AC05D-EA34-7140-8395-114A84D51EE0}" type="presParOf" srcId="{779A7C24-8357-D944-8A0E-27BFE796CF89}" destId="{3BE45B88-4572-A04E-BCED-47E685871290}" srcOrd="11" destOrd="0" presId="urn:microsoft.com/office/officeart/2005/8/layout/vList2"/>
    <dgm:cxn modelId="{F844669F-43AA-AB4B-B0B8-249B2BA8E1F7}" type="presParOf" srcId="{779A7C24-8357-D944-8A0E-27BFE796CF89}" destId="{C1CAE6DB-69FC-C842-9D59-FC59F2308420}" srcOrd="12" destOrd="0" presId="urn:microsoft.com/office/officeart/2005/8/layout/vList2"/>
    <dgm:cxn modelId="{3741E4AE-76A4-ED4C-A13E-B5D415BAB74A}" type="presParOf" srcId="{779A7C24-8357-D944-8A0E-27BFE796CF89}" destId="{B82AC758-A0F0-DF4F-B713-7D7775D140FA}" srcOrd="13" destOrd="0" presId="urn:microsoft.com/office/officeart/2005/8/layout/vList2"/>
    <dgm:cxn modelId="{A1B20805-7873-D84F-87A8-2EDF4C68428C}" type="presParOf" srcId="{779A7C24-8357-D944-8A0E-27BFE796CF89}" destId="{88F89F68-C447-4548-B1E0-120FF7741F5F}" srcOrd="14" destOrd="0" presId="urn:microsoft.com/office/officeart/2005/8/layout/vList2"/>
    <dgm:cxn modelId="{34251BEE-6D1B-2844-BC6E-EBE55CA4501A}" type="presParOf" srcId="{779A7C24-8357-D944-8A0E-27BFE796CF89}" destId="{B7E0F1EA-D32C-4247-BB7D-D56F07DC6B3E}" srcOrd="15" destOrd="0" presId="urn:microsoft.com/office/officeart/2005/8/layout/vList2"/>
    <dgm:cxn modelId="{5FF226CA-0184-D04D-AA02-8A24907918CF}" type="presParOf" srcId="{779A7C24-8357-D944-8A0E-27BFE796CF89}" destId="{EC43BEBA-ACA5-6F46-AB7F-FE24268678B4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2A433-CBF6-A043-8822-CE35B0F8D04C}">
      <dsp:nvSpPr>
        <dsp:cNvPr id="0" name=""/>
        <dsp:cNvSpPr/>
      </dsp:nvSpPr>
      <dsp:spPr>
        <a:xfrm>
          <a:off x="0" y="62024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RNN/LSTM Limitations:</a:t>
          </a:r>
          <a:endParaRPr lang="en-US" sz="1400" kern="1200"/>
        </a:p>
      </dsp:txBody>
      <dsp:txXfrm>
        <a:off x="17416" y="79440"/>
        <a:ext cx="3897088" cy="321944"/>
      </dsp:txXfrm>
    </dsp:sp>
    <dsp:sp modelId="{CFF71037-0976-9940-AE02-CF91A65A722A}">
      <dsp:nvSpPr>
        <dsp:cNvPr id="0" name=""/>
        <dsp:cNvSpPr/>
      </dsp:nvSpPr>
      <dsp:spPr>
        <a:xfrm>
          <a:off x="0" y="459120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❌ Sequential Processing</a:t>
          </a:r>
        </a:p>
      </dsp:txBody>
      <dsp:txXfrm>
        <a:off x="17416" y="476536"/>
        <a:ext cx="3897088" cy="321944"/>
      </dsp:txXfrm>
    </dsp:sp>
    <dsp:sp modelId="{E60630C3-B783-5D41-929E-9D26DA34C8F6}">
      <dsp:nvSpPr>
        <dsp:cNvPr id="0" name=""/>
        <dsp:cNvSpPr/>
      </dsp:nvSpPr>
      <dsp:spPr>
        <a:xfrm>
          <a:off x="0" y="856217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Must process word-by-word</a:t>
          </a:r>
        </a:p>
      </dsp:txBody>
      <dsp:txXfrm>
        <a:off x="17416" y="873633"/>
        <a:ext cx="3897088" cy="321944"/>
      </dsp:txXfrm>
    </dsp:sp>
    <dsp:sp modelId="{4BE54841-2221-7E46-A907-3DA187AA771A}">
      <dsp:nvSpPr>
        <dsp:cNvPr id="0" name=""/>
        <dsp:cNvSpPr/>
      </dsp:nvSpPr>
      <dsp:spPr>
        <a:xfrm>
          <a:off x="0" y="1253314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Can't parallelize = SLOW training</a:t>
          </a:r>
        </a:p>
      </dsp:txBody>
      <dsp:txXfrm>
        <a:off x="17416" y="1270730"/>
        <a:ext cx="3897088" cy="321944"/>
      </dsp:txXfrm>
    </dsp:sp>
    <dsp:sp modelId="{BF3E4D7A-6F53-5745-95DB-7CEE833EED61}">
      <dsp:nvSpPr>
        <dsp:cNvPr id="0" name=""/>
        <dsp:cNvSpPr/>
      </dsp:nvSpPr>
      <dsp:spPr>
        <a:xfrm>
          <a:off x="0" y="1650411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❌ Long-Range Dependencies</a:t>
          </a:r>
        </a:p>
      </dsp:txBody>
      <dsp:txXfrm>
        <a:off x="17416" y="1667827"/>
        <a:ext cx="3897088" cy="321944"/>
      </dsp:txXfrm>
    </dsp:sp>
    <dsp:sp modelId="{7CBB74F3-AADE-B54E-B17C-0F2242C4B102}">
      <dsp:nvSpPr>
        <dsp:cNvPr id="0" name=""/>
        <dsp:cNvSpPr/>
      </dsp:nvSpPr>
      <dsp:spPr>
        <a:xfrm>
          <a:off x="0" y="2047508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Information gets 'diluted'</a:t>
          </a:r>
        </a:p>
      </dsp:txBody>
      <dsp:txXfrm>
        <a:off x="17416" y="2064924"/>
        <a:ext cx="3897088" cy="321944"/>
      </dsp:txXfrm>
    </dsp:sp>
    <dsp:sp modelId="{C1CAE6DB-69FC-C842-9D59-FC59F2308420}">
      <dsp:nvSpPr>
        <dsp:cNvPr id="0" name=""/>
        <dsp:cNvSpPr/>
      </dsp:nvSpPr>
      <dsp:spPr>
        <a:xfrm>
          <a:off x="0" y="2444605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Gradient vanishing over distance</a:t>
          </a:r>
        </a:p>
      </dsp:txBody>
      <dsp:txXfrm>
        <a:off x="17416" y="2462021"/>
        <a:ext cx="3897088" cy="321944"/>
      </dsp:txXfrm>
    </dsp:sp>
    <dsp:sp modelId="{88F89F68-C447-4548-B1E0-120FF7741F5F}">
      <dsp:nvSpPr>
        <dsp:cNvPr id="0" name=""/>
        <dsp:cNvSpPr/>
      </dsp:nvSpPr>
      <dsp:spPr>
        <a:xfrm>
          <a:off x="0" y="2841702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❌ Fixed-Size Hidden State</a:t>
          </a:r>
        </a:p>
      </dsp:txBody>
      <dsp:txXfrm>
        <a:off x="17416" y="2859118"/>
        <a:ext cx="3897088" cy="321944"/>
      </dsp:txXfrm>
    </dsp:sp>
    <dsp:sp modelId="{EC43BEBA-ACA5-6F46-AB7F-FE24268678B4}">
      <dsp:nvSpPr>
        <dsp:cNvPr id="0" name=""/>
        <dsp:cNvSpPr/>
      </dsp:nvSpPr>
      <dsp:spPr>
        <a:xfrm>
          <a:off x="0" y="3238799"/>
          <a:ext cx="3931920" cy="3567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Bottleneck for information</a:t>
          </a:r>
        </a:p>
      </dsp:txBody>
      <dsp:txXfrm>
        <a:off x="17416" y="3256215"/>
        <a:ext cx="3897088" cy="3219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0148" y="614238"/>
            <a:ext cx="7126390" cy="2451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FFFFFF"/>
                </a:solidFill>
              </a:defRPr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Transformer Architecture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937"/>
                </a:solidFill>
              </a:defRPr>
            </a:pPr>
            <a:r>
              <a:t>Why Transformers? Understanding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rPr dirty="0"/>
              <a:t>Transformer Solutions:</a:t>
            </a:r>
          </a:p>
          <a:p>
            <a:br>
              <a:rPr dirty="0"/>
            </a:br>
            <a:r>
              <a:rPr dirty="0"/>
              <a:t>✅ Parallel Processing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rPr dirty="0"/>
              <a:t>All positions simultaneously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rPr dirty="0"/>
              <a:t>10-100x faster training!</a:t>
            </a:r>
          </a:p>
          <a:p>
            <a:br>
              <a:rPr dirty="0"/>
            </a:br>
            <a:r>
              <a:rPr dirty="0"/>
              <a:t>✅ Direct Connections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rPr dirty="0"/>
              <a:t>Any word sees all words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rPr dirty="0"/>
              <a:t>No information decay</a:t>
            </a:r>
          </a:p>
          <a:p>
            <a:br>
              <a:rPr dirty="0"/>
            </a:br>
            <a:r>
              <a:rPr dirty="0"/>
              <a:t>✅ Dynamic Representation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rPr dirty="0"/>
              <a:t>Attention weights 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2/6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7173883E-193F-E75F-F431-E39118FC2B5E}"/>
              </a:ext>
            </a:extLst>
          </p:cNvPr>
          <p:cNvGraphicFramePr/>
          <p:nvPr/>
        </p:nvGraphicFramePr>
        <p:xfrm>
          <a:off x="457200" y="914400"/>
          <a:ext cx="393192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937"/>
                </a:solidFill>
              </a:defRPr>
            </a:pPr>
            <a:r>
              <a:t>Self-Attention: The 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2962FF"/>
                </a:solidFill>
              </a:defRPr>
            </a:pPr>
            <a:r>
              <a:rPr dirty="0"/>
              <a:t>💡 Intuition: For each word, figure out which other words to 'pay attention to'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rPr dirty="0"/>
              <a:t>Example: "The cat sat on the mat because it was tired"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4769254" cy="2369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37"/>
                </a:solidFill>
              </a:defRPr>
            </a:pPr>
            <a:r>
              <a:rPr dirty="0"/>
              <a:t>How Self-Attention Works:</a:t>
            </a:r>
            <a:br>
              <a:rPr dirty="0"/>
            </a:br>
            <a:r>
              <a:rPr dirty="0"/>
              <a:t>1️⃣ Create Three Representations for Each Word:</a:t>
            </a:r>
          </a:p>
          <a:p>
            <a:pPr>
              <a:defRPr sz="1400"/>
            </a:pPr>
            <a:r>
              <a:rPr dirty="0"/>
              <a:t>   • Query (Q): What am I looking for?</a:t>
            </a:r>
          </a:p>
          <a:p>
            <a:pPr>
              <a:defRPr sz="1400"/>
            </a:pPr>
            <a:r>
              <a:rPr dirty="0"/>
              <a:t>   • Key (K): What do I contain?</a:t>
            </a:r>
          </a:p>
          <a:p>
            <a:pPr>
              <a:defRPr sz="1400"/>
            </a:pPr>
            <a:r>
              <a:rPr dirty="0"/>
              <a:t>   • Value (V): What information do I provide?</a:t>
            </a:r>
            <a:br>
              <a:rPr dirty="0"/>
            </a:br>
            <a:r>
              <a:rPr dirty="0"/>
              <a:t>2️⃣ Calculate Attention Scores:</a:t>
            </a:r>
          </a:p>
          <a:p>
            <a:pPr>
              <a:defRPr sz="1400"/>
            </a:pPr>
            <a:r>
              <a:rPr dirty="0"/>
              <a:t>   • "it" (Query) × all words (Keys) = compatibility scores</a:t>
            </a:r>
          </a:p>
          <a:p>
            <a:pPr>
              <a:defRPr sz="1400"/>
            </a:pPr>
            <a:r>
              <a:rPr dirty="0"/>
              <a:t>   • High score with "cat" → "it" refers to "cat"</a:t>
            </a:r>
            <a:br>
              <a:rPr dirty="0"/>
            </a:br>
            <a:r>
              <a:rPr dirty="0"/>
              <a:t>3️⃣ Apply </a:t>
            </a:r>
            <a:r>
              <a:rPr dirty="0" err="1"/>
              <a:t>Softmax</a:t>
            </a:r>
            <a:r>
              <a:rPr dirty="0"/>
              <a:t> → Get attention weights (probabilities)</a:t>
            </a:r>
            <a:br>
              <a:rPr dirty="0"/>
            </a:br>
            <a:r>
              <a:rPr dirty="0"/>
              <a:t>4️⃣ Weighted sum of Values → Context-aware representation!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91673"/>
            <a:ext cx="6644063" cy="44012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937"/>
                </a:solidFill>
              </a:defRPr>
            </a:pPr>
            <a:r>
              <a:rPr dirty="0"/>
              <a:t>Multi-Head Attention</a:t>
            </a:r>
            <a:endParaRPr lang="en-US" dirty="0"/>
          </a:p>
          <a:p>
            <a:pPr>
              <a:defRPr sz="3400" b="1">
                <a:solidFill>
                  <a:srgbClr val="0A1937"/>
                </a:solidFill>
              </a:defRPr>
            </a:pPr>
            <a:endParaRPr lang="en-US" dirty="0"/>
          </a:p>
          <a:p>
            <a:pPr>
              <a:defRPr sz="1800" b="1">
                <a:solidFill>
                  <a:srgbClr val="FF8C00"/>
                </a:solidFill>
              </a:defRPr>
            </a:pPr>
            <a:r>
              <a:rPr lang="en-US" dirty="0"/>
              <a:t>Multi-Head Attention: Different Perspectives</a:t>
            </a:r>
          </a:p>
          <a:p>
            <a:br>
              <a:rPr lang="en-US" dirty="0"/>
            </a:br>
            <a:r>
              <a:rPr lang="en-US" dirty="0"/>
              <a:t>🎯 Analogy: Like having 8 different 'experts' look at the sentence</a:t>
            </a:r>
          </a:p>
          <a:p>
            <a:br>
              <a:rPr lang="en-US" dirty="0"/>
            </a:br>
            <a:r>
              <a:rPr lang="en-US" dirty="0"/>
              <a:t>Each head might learn to focus on:</a:t>
            </a:r>
          </a:p>
          <a:p>
            <a:pPr>
              <a:defRPr sz="1300"/>
            </a:pPr>
            <a:r>
              <a:rPr lang="en-US" dirty="0"/>
              <a:t>• Head 1: Subject-verb relationships</a:t>
            </a:r>
          </a:p>
          <a:p>
            <a:pPr>
              <a:defRPr sz="1300"/>
            </a:pPr>
            <a:r>
              <a:rPr lang="en-US" dirty="0"/>
              <a:t>• Head 2: Pronoun references</a:t>
            </a:r>
          </a:p>
          <a:p>
            <a:pPr>
              <a:defRPr sz="1300"/>
            </a:pPr>
            <a:r>
              <a:rPr lang="en-US" dirty="0"/>
              <a:t>• Head 3: Adjacent word dependencies</a:t>
            </a:r>
          </a:p>
          <a:p>
            <a:pPr>
              <a:defRPr sz="1300"/>
            </a:pPr>
            <a:r>
              <a:rPr lang="en-US" dirty="0"/>
              <a:t>• Head 4-8: Other linguistic patterns</a:t>
            </a:r>
          </a:p>
          <a:p>
            <a:br>
              <a:rPr lang="en-US" dirty="0"/>
            </a:br>
            <a:r>
              <a:rPr lang="en-US" dirty="0"/>
              <a:t>→ Concatenate all heads → Linear projection → Rich representation!</a:t>
            </a:r>
          </a:p>
          <a:p>
            <a:pPr>
              <a:defRPr sz="3400" b="1">
                <a:solidFill>
                  <a:srgbClr val="0A1937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937"/>
                </a:solidFill>
              </a:defRPr>
            </a:pPr>
            <a:r>
              <a:t>Complete Transformer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39319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📥 ENCODER (Left Side)</a:t>
            </a:r>
          </a:p>
          <a:p>
            <a:br/>
            <a:r>
              <a:t>Input Processing:</a:t>
            </a:r>
          </a:p>
          <a:p>
            <a:pPr>
              <a:defRPr sz="1300"/>
            </a:pPr>
            <a:r>
              <a:t>1. Word Embeddings (512-dim)</a:t>
            </a:r>
          </a:p>
          <a:p>
            <a:pPr>
              <a:defRPr sz="1300"/>
            </a:pPr>
            <a:r>
              <a:t>2. + Positional Encoding</a:t>
            </a:r>
          </a:p>
          <a:p>
            <a:pPr>
              <a:defRPr sz="1200" i="1"/>
            </a:pPr>
            <a:r>
              <a:t>   (sine/cosine patterns)</a:t>
            </a:r>
          </a:p>
          <a:p>
            <a:br/>
            <a:r>
              <a:t>6 Identical Layers, each has:</a:t>
            </a:r>
          </a:p>
          <a:p>
            <a:pPr>
              <a:defRPr sz="1300"/>
            </a:pPr>
            <a:r>
              <a:t>• Multi-Head Attention</a:t>
            </a:r>
          </a:p>
          <a:p>
            <a:pPr>
              <a:defRPr sz="1300"/>
            </a:pPr>
            <a:r>
              <a:t>• Add &amp; Normalize</a:t>
            </a:r>
          </a:p>
          <a:p>
            <a:pPr>
              <a:defRPr sz="1300"/>
            </a:pPr>
            <a:r>
              <a:t>• Feed-Forward Network</a:t>
            </a:r>
          </a:p>
          <a:p>
            <a:pPr>
              <a:defRPr sz="1200" i="1"/>
            </a:pPr>
            <a:r>
              <a:t>  (512→2048→512)</a:t>
            </a:r>
          </a:p>
          <a:p>
            <a:pPr>
              <a:defRPr sz="1300"/>
            </a:pPr>
            <a:r>
              <a:t>• Add &amp; Normalize</a:t>
            </a:r>
          </a:p>
          <a:p>
            <a:br/>
            <a:r>
              <a:t>💡 Processes entire input</a:t>
            </a:r>
          </a:p>
          <a:p>
            <a:pPr>
              <a:defRPr sz="1400" b="1"/>
            </a:pPr>
            <a:r>
              <a:t>   simultaneously!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868680"/>
            <a:ext cx="39319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📤 DECODER (Right Side)</a:t>
            </a:r>
          </a:p>
          <a:p>
            <a:br/>
            <a:r>
              <a:t>Output Generation:</a:t>
            </a:r>
          </a:p>
          <a:p>
            <a:pPr>
              <a:defRPr sz="1300"/>
            </a:pPr>
            <a:r>
              <a:t>1. Previous outputs</a:t>
            </a:r>
          </a:p>
          <a:p>
            <a:pPr>
              <a:defRPr sz="1300"/>
            </a:pPr>
            <a:r>
              <a:t>2. + Positional Encoding</a:t>
            </a:r>
          </a:p>
          <a:p>
            <a:br/>
            <a:r>
              <a:t>6 Identical Layers, each has:</a:t>
            </a:r>
          </a:p>
          <a:p>
            <a:pPr>
              <a:defRPr sz="1300"/>
            </a:pPr>
            <a:r>
              <a:t>• Masked Self-Attention</a:t>
            </a:r>
          </a:p>
          <a:p>
            <a:pPr>
              <a:defRPr sz="1200" i="1">
                <a:solidFill>
                  <a:srgbClr val="DC143C"/>
                </a:solidFill>
              </a:defRPr>
            </a:pPr>
            <a:r>
              <a:t>  (can't see future!)</a:t>
            </a:r>
          </a:p>
          <a:p>
            <a:pPr>
              <a:defRPr sz="1300"/>
            </a:pPr>
            <a:r>
              <a:t>• Add &amp; Normalize</a:t>
            </a:r>
          </a:p>
          <a:p>
            <a:pPr>
              <a:defRPr sz="1300" b="1"/>
            </a:pPr>
            <a:r>
              <a:t>• Cross-Attention</a:t>
            </a:r>
          </a:p>
          <a:p>
            <a:pPr>
              <a:defRPr sz="1200" i="1">
                <a:solidFill>
                  <a:srgbClr val="228B22"/>
                </a:solidFill>
              </a:defRPr>
            </a:pPr>
            <a:r>
              <a:t>  (attend to encoder!)</a:t>
            </a:r>
          </a:p>
          <a:p>
            <a:pPr>
              <a:defRPr sz="1300"/>
            </a:pPr>
            <a:r>
              <a:t>• Add &amp; Normalize</a:t>
            </a:r>
          </a:p>
          <a:p>
            <a:pPr>
              <a:defRPr sz="1300"/>
            </a:pPr>
            <a:r>
              <a:t>• Feed-Forward</a:t>
            </a:r>
          </a:p>
          <a:p>
            <a:pPr>
              <a:defRPr sz="1300"/>
            </a:pPr>
            <a:r>
              <a:t>• Add &amp; Normalize</a:t>
            </a:r>
          </a:p>
          <a:p>
            <a:br/>
            <a:r>
              <a:t>→ Linear → Softmax</a:t>
            </a:r>
          </a:p>
          <a:p>
            <a:pPr>
              <a:defRPr sz="1400" b="1"/>
            </a:pPr>
            <a:r>
              <a:t>→ Next word probability!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1937"/>
                </a:solidFill>
              </a:defRPr>
            </a:pPr>
            <a:r>
              <a:t>Key Insights &amp; Revolutionary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2161169" cy="28469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rPr dirty="0"/>
              <a:t>🎯 Key Insights</a:t>
            </a:r>
            <a:br>
              <a:rPr dirty="0"/>
            </a:br>
            <a:r>
              <a:rPr dirty="0"/>
              <a:t>1. Parallelization</a:t>
            </a:r>
          </a:p>
          <a:p>
            <a:pPr>
              <a:defRPr sz="1300"/>
            </a:pPr>
            <a:r>
              <a:rPr dirty="0"/>
              <a:t>• No sequential bottleneck</a:t>
            </a:r>
          </a:p>
          <a:p>
            <a:pPr>
              <a:defRPr sz="1300"/>
            </a:pPr>
            <a:r>
              <a:rPr dirty="0"/>
              <a:t>• GPU-friendly computation</a:t>
            </a:r>
            <a:br>
              <a:rPr dirty="0"/>
            </a:br>
            <a:r>
              <a:rPr dirty="0"/>
              <a:t>2. Attention Visualization</a:t>
            </a:r>
          </a:p>
          <a:p>
            <a:pPr>
              <a:defRPr sz="1300"/>
            </a:pPr>
            <a:r>
              <a:rPr dirty="0"/>
              <a:t>• See what model focuses on</a:t>
            </a:r>
          </a:p>
          <a:p>
            <a:pPr>
              <a:defRPr sz="1300"/>
            </a:pPr>
            <a:r>
              <a:rPr dirty="0"/>
              <a:t>• Interpretable decisions</a:t>
            </a:r>
            <a:br>
              <a:rPr dirty="0"/>
            </a:br>
            <a:r>
              <a:rPr dirty="0"/>
              <a:t>3. Transfer Learning</a:t>
            </a:r>
          </a:p>
          <a:p>
            <a:pPr>
              <a:defRPr sz="1300"/>
            </a:pPr>
            <a:r>
              <a:rPr dirty="0"/>
              <a:t>• Pre-train on massive data</a:t>
            </a:r>
          </a:p>
          <a:p>
            <a:pPr>
              <a:defRPr sz="1300"/>
            </a:pPr>
            <a:r>
              <a:rPr dirty="0"/>
              <a:t>• Fine-tune for any task</a:t>
            </a:r>
            <a:br>
              <a:rPr dirty="0"/>
            </a:br>
            <a:r>
              <a:rPr dirty="0"/>
              <a:t>4. Scalability</a:t>
            </a:r>
          </a:p>
          <a:p>
            <a:pPr>
              <a:defRPr sz="1300"/>
            </a:pPr>
            <a:r>
              <a:rPr dirty="0"/>
              <a:t>• GPT-3: 175B parameters</a:t>
            </a:r>
          </a:p>
          <a:p>
            <a:pPr>
              <a:defRPr sz="1300"/>
            </a:pPr>
            <a:r>
              <a:rPr dirty="0"/>
              <a:t>• Consistent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868680"/>
            <a:ext cx="2527423" cy="2877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rPr dirty="0"/>
              <a:t>🚀 Revolutionary Impact</a:t>
            </a:r>
          </a:p>
          <a:p>
            <a:br>
              <a:rPr dirty="0"/>
            </a:br>
            <a:r>
              <a:rPr dirty="0"/>
              <a:t>NLP Breakthroughs:</a:t>
            </a:r>
          </a:p>
          <a:p>
            <a:pPr>
              <a:defRPr sz="1300"/>
            </a:pPr>
            <a:r>
              <a:rPr dirty="0"/>
              <a:t>• BERT (Google, 2018)</a:t>
            </a:r>
          </a:p>
          <a:p>
            <a:pPr>
              <a:defRPr sz="1300"/>
            </a:pPr>
            <a:r>
              <a:rPr dirty="0"/>
              <a:t>• GPT Series (OpenAI)</a:t>
            </a:r>
          </a:p>
          <a:p>
            <a:pPr>
              <a:defRPr sz="1300"/>
            </a:pPr>
            <a:r>
              <a:rPr dirty="0"/>
              <a:t>• ChatGPT, Claude, etc.</a:t>
            </a:r>
          </a:p>
          <a:p>
            <a:br>
              <a:rPr dirty="0"/>
            </a:br>
            <a:r>
              <a:rPr dirty="0"/>
              <a:t>Beyond Text:</a:t>
            </a:r>
          </a:p>
          <a:p>
            <a:pPr>
              <a:defRPr sz="1300"/>
            </a:pPr>
            <a:r>
              <a:rPr dirty="0"/>
              <a:t>• Vision (</a:t>
            </a:r>
            <a:r>
              <a:rPr dirty="0" err="1"/>
              <a:t>ViT</a:t>
            </a:r>
            <a:r>
              <a:rPr dirty="0"/>
              <a:t>, DALL-E)</a:t>
            </a:r>
          </a:p>
          <a:p>
            <a:pPr>
              <a:defRPr sz="1300"/>
            </a:pPr>
            <a:r>
              <a:rPr dirty="0"/>
              <a:t>• Audio (Whisper)</a:t>
            </a:r>
          </a:p>
          <a:p>
            <a:pPr>
              <a:defRPr sz="1300"/>
            </a:pPr>
            <a:r>
              <a:rPr dirty="0"/>
              <a:t>• Protein Folding (AlphaFold)</a:t>
            </a:r>
          </a:p>
          <a:p>
            <a:pPr>
              <a:defRPr sz="1300"/>
            </a:pPr>
            <a:r>
              <a:rPr dirty="0"/>
              <a:t>• Code (Copilot, Codex)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937"/>
                </a:solidFill>
              </a:defRPr>
            </a:pPr>
            <a:r>
              <a:rPr dirty="0"/>
              <a:t>💡 Remember: Transformers = Parallel Attention + No Recurrence!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559</Words>
  <Application>Microsoft Macintosh PowerPoint</Application>
  <PresentationFormat>On-screen Show (16:9)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Sakshi Parikh</cp:lastModifiedBy>
  <cp:revision>2</cp:revision>
  <dcterms:created xsi:type="dcterms:W3CDTF">2013-01-27T09:14:16Z</dcterms:created>
  <dcterms:modified xsi:type="dcterms:W3CDTF">2025-10-15T18:22:22Z</dcterms:modified>
  <cp:category/>
</cp:coreProperties>
</file>