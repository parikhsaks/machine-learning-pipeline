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DM Sans" pitchFamily="2" charset="77"/>
      <p:regular r:id="rId8"/>
      <p:bold r:id="rId9"/>
      <p:italic r:id="rId10"/>
      <p:boldItalic r:id="rId11"/>
    </p:embeddedFont>
    <p:embeddedFont>
      <p:font typeface="Libre Baskerville" panose="02000000000000000000" pitchFamily="2" charset="0"/>
      <p:regular r:id="rId12"/>
      <p:bold r:id="rId13"/>
      <p: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6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3495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LLM Fine-Tuning 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41901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3813"/>
            <a:ext cx="63836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Fine-Tuning?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62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Adapting pre-trained LLMs to specific tasks, domains, or behaviours by continuing training on specialized datasets.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64274"/>
            <a:ext cx="6407944" cy="2127290"/>
          </a:xfrm>
          <a:prstGeom prst="roundRect">
            <a:avLst>
              <a:gd name="adj" fmla="val 4478"/>
            </a:avLst>
          </a:prstGeom>
          <a:solidFill>
            <a:srgbClr val="A855F7"/>
          </a:solidFill>
          <a:ln w="7620">
            <a:solidFill>
              <a:srgbClr val="8E3B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224" y="2998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 Fine-Tuning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48912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all model parameters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393132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quality • Resource intensive • Risk of catastrophic forgetting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764274"/>
            <a:ext cx="6408063" cy="2127290"/>
          </a:xfrm>
          <a:prstGeom prst="roundRect">
            <a:avLst>
              <a:gd name="adj" fmla="val 4478"/>
            </a:avLst>
          </a:prstGeom>
          <a:solidFill>
            <a:srgbClr val="22C55E"/>
          </a:solidFill>
          <a:ln w="7620">
            <a:solidFill>
              <a:srgbClr val="08AB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62982" y="2998708"/>
            <a:ext cx="3969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Parameter-Efficient (PEFT)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348912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small subset of parameters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982" y="393132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efficient • Faster training • Easier deployment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127290"/>
          </a:xfrm>
          <a:prstGeom prst="roundRect">
            <a:avLst>
              <a:gd name="adj" fmla="val 4478"/>
            </a:avLst>
          </a:prstGeom>
          <a:solidFill>
            <a:srgbClr val="F97316"/>
          </a:solidFill>
          <a:ln w="7620">
            <a:solidFill>
              <a:srgbClr val="DF5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Instruction Tuning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843230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on instruction-response pairs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224" y="628542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following instructions • Generalizes across tasks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127290"/>
          </a:xfrm>
          <a:prstGeom prst="roundRect">
            <a:avLst>
              <a:gd name="adj" fmla="val 4478"/>
            </a:avLst>
          </a:prstGeom>
          <a:solidFill>
            <a:srgbClr val="EC4899"/>
          </a:solidFill>
          <a:ln w="7620">
            <a:solidFill>
              <a:srgbClr val="D22E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62982" y="5352812"/>
            <a:ext cx="2894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Alignment Methods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2982" y="584323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RLHF, DPO, and preference learning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662982" y="628542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Aligns with human values • Reduces harmful outputs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009" y="649724"/>
            <a:ext cx="7774781" cy="122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Parameter-Efficient Fine-Tuning (PEFT)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1009" y="2360890"/>
            <a:ext cx="364878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LoRA (Low-Rank Adaptation)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171009" y="3289816"/>
            <a:ext cx="3648789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Injects trainable low-rank matrices into model layers. Instead of updating all weights, trains small decomposed matrices.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71009" y="4717375"/>
            <a:ext cx="364878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Parameters: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0.1-1% of original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1009" y="5098733"/>
            <a:ext cx="364878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~1/3 of full 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71009" y="5480090"/>
            <a:ext cx="364878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Most popular PEFT method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304621" y="2360890"/>
            <a:ext cx="364878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QLoRA (Quantized LoRA)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304621" y="3289816"/>
            <a:ext cx="3648789" cy="938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LoRA with 4-bit quantization. Enables fine-tuning 65B+ models on consumer GPUs.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304621" y="4404479"/>
            <a:ext cx="364878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75% less than LoRA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304621" y="4785836"/>
            <a:ext cx="364878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4-bit base model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304621" y="5167193"/>
            <a:ext cx="3648789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Use: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Resource-constrained scenarios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71009" y="6276975"/>
            <a:ext cx="244506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Prefix Tuning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171009" y="6778109"/>
            <a:ext cx="3648789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Prepends trainable continuous vectors to each layer. Keeps base model frozen.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304621" y="6276975"/>
            <a:ext cx="244506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Adapters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304621" y="6778109"/>
            <a:ext cx="3648789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Inserts small trainable modules between frozen transformer layers.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277" y="547449"/>
            <a:ext cx="10585133" cy="62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Instruction Tuning &amp; Alignment Methods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6277" y="1248728"/>
            <a:ext cx="3687008" cy="37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Instruction Fine-Tuning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6277" y="1920121"/>
            <a:ext cx="13237845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models on diverse (instruction, response) pairs to improve zero-shot task performance.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6277" y="2462093"/>
            <a:ext cx="13237845" cy="1481733"/>
          </a:xfrm>
          <a:prstGeom prst="roundRect">
            <a:avLst>
              <a:gd name="adj" fmla="val 5640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31" y="2757488"/>
            <a:ext cx="248602" cy="1989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2787" y="2710696"/>
            <a:ext cx="12392382" cy="9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Datasets: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FLAN, Alpaca, Dolly, </a:t>
            </a:r>
            <a:r>
              <a:rPr lang="en-US" sz="155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ShareGPT</a:t>
            </a:r>
            <a:endParaRPr lang="en-US" sz="155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Benefits: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Generalisation across tasks, better prompt following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Approach: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Supervised fine-tuning (SFT) on curated instruction datasets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6277" y="4242197"/>
            <a:ext cx="4477107" cy="37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RLHF &amp; Preference Learning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696277" y="4913590"/>
            <a:ext cx="4279940" cy="2768560"/>
          </a:xfrm>
          <a:prstGeom prst="roundRect">
            <a:avLst>
              <a:gd name="adj" fmla="val 301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8091" y="5135404"/>
            <a:ext cx="3836313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RLHF (Reinforcement Learning from Human Feedback)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18091" y="6187321"/>
            <a:ext cx="3836313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reward model from human preferences → Optimise policy with PPO/TRPO. Complex but powerful. Used by ChatGPT, Claude.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175171" y="4913590"/>
            <a:ext cx="4279940" cy="2768560"/>
          </a:xfrm>
          <a:prstGeom prst="roundRect">
            <a:avLst>
              <a:gd name="adj" fmla="val 301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96984" y="5135404"/>
            <a:ext cx="3836313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DPO (Direct Preference Optimisation)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396984" y="5876449"/>
            <a:ext cx="3836313" cy="9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optimisation without reward model. Simpler than RLHF. Stable training, no RL complexity, competitive results.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54064" y="4913590"/>
            <a:ext cx="4279940" cy="2768560"/>
          </a:xfrm>
          <a:prstGeom prst="roundRect">
            <a:avLst>
              <a:gd name="adj" fmla="val 301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875877" y="5135404"/>
            <a:ext cx="3779044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RLAIF (RL from AI Feedback)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875877" y="5565577"/>
            <a:ext cx="3836313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AI-generated preferences instead of human labels. More scalable.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916" y="659011"/>
            <a:ext cx="7341870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Choosing the Right Technique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0916" y="1324689"/>
            <a:ext cx="3019901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0916" y="2245162"/>
            <a:ext cx="6559868" cy="1394103"/>
          </a:xfrm>
          <a:prstGeom prst="roundRect">
            <a:avLst>
              <a:gd name="adj" fmla="val 7871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0916" y="2222302"/>
            <a:ext cx="6559868" cy="91440"/>
          </a:xfrm>
          <a:prstGeom prst="roundRect">
            <a:avLst>
              <a:gd name="adj" fmla="val 8675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1961912"/>
            <a:ext cx="566499" cy="566499"/>
          </a:xfrm>
          <a:prstGeom prst="roundRect">
            <a:avLst>
              <a:gd name="adj" fmla="val 16141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27502" y="2103477"/>
            <a:ext cx="226576" cy="28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72609" y="2717244"/>
            <a:ext cx="47032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Limited Resources? → QLoRA or LoRA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72609" y="3125510"/>
            <a:ext cx="6136481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Fine-tune on single GPU, minimal memory requirements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9617" y="2245162"/>
            <a:ext cx="6559868" cy="1394103"/>
          </a:xfrm>
          <a:prstGeom prst="roundRect">
            <a:avLst>
              <a:gd name="adj" fmla="val 7871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9617" y="2222302"/>
            <a:ext cx="6559868" cy="91440"/>
          </a:xfrm>
          <a:prstGeom prst="roundRect">
            <a:avLst>
              <a:gd name="adj" fmla="val 8675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06301" y="1961912"/>
            <a:ext cx="566499" cy="566499"/>
          </a:xfrm>
          <a:prstGeom prst="roundRect">
            <a:avLst>
              <a:gd name="adj" fmla="val 16141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76203" y="2103477"/>
            <a:ext cx="226576" cy="28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21310" y="2717244"/>
            <a:ext cx="6130885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Need Maximum Performance? → Full Fine-Tuning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21310" y="3125510"/>
            <a:ext cx="6136481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compute isn't constrained and you have domain-specific data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0916" y="4111347"/>
            <a:ext cx="6559868" cy="1394103"/>
          </a:xfrm>
          <a:prstGeom prst="roundRect">
            <a:avLst>
              <a:gd name="adj" fmla="val 7871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916" y="4088487"/>
            <a:ext cx="6559868" cy="91440"/>
          </a:xfrm>
          <a:prstGeom prst="roundRect">
            <a:avLst>
              <a:gd name="adj" fmla="val 8675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0" y="3828098"/>
            <a:ext cx="566499" cy="566499"/>
          </a:xfrm>
          <a:prstGeom prst="roundRect">
            <a:avLst>
              <a:gd name="adj" fmla="val 16141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27502" y="3969663"/>
            <a:ext cx="226576" cy="28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72609" y="4583430"/>
            <a:ext cx="5706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Want Better Instructions? → Instruction Tuning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872609" y="4991695"/>
            <a:ext cx="6136481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SFT on instruction datasets, can combine with PEFT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409617" y="4111347"/>
            <a:ext cx="6559868" cy="1394103"/>
          </a:xfrm>
          <a:prstGeom prst="roundRect">
            <a:avLst>
              <a:gd name="adj" fmla="val 7871"/>
            </a:avLst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9617" y="4088487"/>
            <a:ext cx="6559868" cy="91440"/>
          </a:xfrm>
          <a:prstGeom prst="roundRect">
            <a:avLst>
              <a:gd name="adj" fmla="val 8675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06301" y="3828098"/>
            <a:ext cx="566499" cy="566499"/>
          </a:xfrm>
          <a:prstGeom prst="roundRect">
            <a:avLst>
              <a:gd name="adj" fmla="val 16141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76203" y="3969663"/>
            <a:ext cx="226576" cy="28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621310" y="4583430"/>
            <a:ext cx="528744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Aligning with Preferences? → DPO or RLHF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621310" y="4991695"/>
            <a:ext cx="6136481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DPO for simpler setup, RLHF for maximum control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0916" y="5788700"/>
            <a:ext cx="283297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Considerations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0916" y="6614755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660916" y="7098625"/>
            <a:ext cx="408301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important than technique choice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212318" y="6614755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5212318" y="7098625"/>
            <a:ext cx="408301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on held-out tasks and domains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63720" y="6614755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Hyperparameters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9763720" y="7098625"/>
            <a:ext cx="4220766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rate, rank (for LoRA), epochs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</Words>
  <Application>Microsoft Macintosh PowerPoint</Application>
  <PresentationFormat>Custom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Sakshi Parikh</cp:lastModifiedBy>
  <cp:revision>2</cp:revision>
  <dcterms:created xsi:type="dcterms:W3CDTF">2025-10-29T21:03:56Z</dcterms:created>
  <dcterms:modified xsi:type="dcterms:W3CDTF">2025-10-29T21:05:56Z</dcterms:modified>
</cp:coreProperties>
</file>