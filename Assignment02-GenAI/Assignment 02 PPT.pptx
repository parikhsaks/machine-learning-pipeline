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86"/>
  </p:normalViewPr>
  <p:slideViewPr>
    <p:cSldViewPr snapToGrid="0">
      <p:cViewPr varScale="1">
        <p:scale>
          <a:sx n="109" d="100"/>
          <a:sy n="109" d="100"/>
        </p:scale>
        <p:origin x="6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9/17/25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D891-F3D5-3A5E-340A-ED5CC21B0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7" y="1371600"/>
            <a:ext cx="6872161" cy="432595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Neural Network and RAG Demo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Sakshi Parikh</a:t>
            </a:r>
          </a:p>
        </p:txBody>
      </p:sp>
    </p:spTree>
    <p:extLst>
      <p:ext uri="{BB962C8B-B14F-4D97-AF65-F5344CB8AC3E}">
        <p14:creationId xmlns:p14="http://schemas.microsoft.com/office/powerpoint/2010/main" val="219823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21DC-4329-F33D-B493-30824CF5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RAG System for Hallucination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57384-213D-953D-DC18-D74DB994F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662" y="1524001"/>
            <a:ext cx="9116477" cy="4970584"/>
          </a:xfrm>
        </p:spPr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US" b="1" dirty="0"/>
              <a:t>System Architecture:</a:t>
            </a:r>
            <a:endParaRPr lang="en-US" dirty="0"/>
          </a:p>
          <a:p>
            <a:r>
              <a:rPr lang="en-US" b="1" dirty="0"/>
              <a:t>LLM:</a:t>
            </a:r>
            <a:r>
              <a:rPr lang="en-US" dirty="0"/>
              <a:t> Perplexity API (Llama-3.1 Sonar model)</a:t>
            </a:r>
          </a:p>
          <a:p>
            <a:r>
              <a:rPr lang="en-US" b="1" dirty="0"/>
              <a:t>Embeddings:</a:t>
            </a:r>
            <a:r>
              <a:rPr lang="en-US" dirty="0"/>
              <a:t> </a:t>
            </a:r>
            <a:r>
              <a:rPr lang="en-US" dirty="0" err="1"/>
              <a:t>HuggingFace</a:t>
            </a:r>
            <a:r>
              <a:rPr lang="en-US" dirty="0"/>
              <a:t> sentence-transformers</a:t>
            </a:r>
          </a:p>
          <a:p>
            <a:r>
              <a:rPr lang="en-US" b="1" dirty="0"/>
              <a:t>Vector Store:</a:t>
            </a:r>
            <a:r>
              <a:rPr lang="en-US" dirty="0"/>
              <a:t> FAISS with similarity search</a:t>
            </a:r>
          </a:p>
          <a:p>
            <a:r>
              <a:rPr lang="en-US" b="1" dirty="0"/>
              <a:t>Framework:</a:t>
            </a:r>
            <a:r>
              <a:rPr lang="en-US" dirty="0"/>
              <a:t> </a:t>
            </a:r>
            <a:r>
              <a:rPr lang="en-US" dirty="0" err="1"/>
              <a:t>LangChain</a:t>
            </a:r>
            <a:r>
              <a:rPr lang="en-US" dirty="0"/>
              <a:t> for RAG pipeline</a:t>
            </a:r>
          </a:p>
          <a:p>
            <a:r>
              <a:rPr lang="en-US" b="1" dirty="0"/>
              <a:t>Knowledge Base:</a:t>
            </a:r>
            <a:r>
              <a:rPr lang="en-US" dirty="0"/>
              <a:t> 2 documents about loan dataset with metadata</a:t>
            </a:r>
          </a:p>
          <a:p>
            <a:r>
              <a:rPr lang="en-US" dirty="0"/>
              <a:t>Dataset overview, demographics, financial features, data quality, employment, residential</a:t>
            </a:r>
          </a:p>
          <a:p>
            <a:r>
              <a:rPr lang="en-US" b="1" dirty="0"/>
              <a:t>Experiment Design:</a:t>
            </a:r>
            <a:endParaRPr lang="en-US" dirty="0"/>
          </a:p>
          <a:p>
            <a:r>
              <a:rPr lang="en-US" b="1" dirty="0"/>
              <a:t>Direct Query:</a:t>
            </a:r>
            <a:r>
              <a:rPr lang="en-US" dirty="0"/>
              <a:t> LLM without context (prone to hallucination)</a:t>
            </a:r>
          </a:p>
          <a:p>
            <a:r>
              <a:rPr lang="en-US" b="1" dirty="0"/>
              <a:t>RAG Query:</a:t>
            </a:r>
            <a:r>
              <a:rPr lang="en-US" dirty="0"/>
              <a:t> LLM with retrieved document context</a:t>
            </a:r>
          </a:p>
          <a:p>
            <a:r>
              <a:rPr lang="en-US" b="1" dirty="0"/>
              <a:t>Test Questions:</a:t>
            </a:r>
            <a:r>
              <a:rPr lang="en-US" dirty="0"/>
              <a:t> Designed to expose hallucination (asking for data not in documents)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04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206A-31CC-D83C-2A3D-0E0127A44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527538"/>
            <a:ext cx="7958331" cy="96129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RAG Results - Hallucination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2F183-2878-7620-8CAC-E753E6532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507" y="1055077"/>
            <a:ext cx="9406678" cy="543950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Direct LLM vs RAG System Results</a:t>
            </a:r>
          </a:p>
          <a:p>
            <a:r>
              <a:rPr lang="en-US" b="1" dirty="0"/>
              <a:t>🤖 Direct LLM Responses (Hallucinated):</a:t>
            </a:r>
            <a:endParaRPr lang="en-US" dirty="0"/>
          </a:p>
          <a:p>
            <a:r>
              <a:rPr lang="en-US" b="1" dirty="0"/>
              <a:t>Q:</a:t>
            </a:r>
            <a:r>
              <a:rPr lang="en-US" dirty="0"/>
              <a:t> "What is the average interest rate?"</a:t>
            </a:r>
          </a:p>
          <a:p>
            <a:r>
              <a:rPr lang="en-US" b="1" dirty="0"/>
              <a:t>A:</a:t>
            </a:r>
            <a:r>
              <a:rPr lang="en-US" dirty="0"/>
              <a:t> "The average interest rate is approximately 8.7%, ranging from 5.2% to 14.3%..."</a:t>
            </a:r>
          </a:p>
          <a:p>
            <a:r>
              <a:rPr lang="en-US" b="1" dirty="0"/>
              <a:t>❌ Problem:</a:t>
            </a:r>
            <a:r>
              <a:rPr lang="en-US" dirty="0"/>
              <a:t> Dataset contains NO interest rate information!</a:t>
            </a:r>
          </a:p>
          <a:p>
            <a:r>
              <a:rPr lang="en-US" b="1" dirty="0"/>
              <a:t>🧠 RAG System Responses (Grounded):</a:t>
            </a:r>
            <a:endParaRPr lang="en-US" dirty="0"/>
          </a:p>
          <a:p>
            <a:r>
              <a:rPr lang="en-US" b="1" dirty="0"/>
              <a:t>Q:</a:t>
            </a:r>
            <a:r>
              <a:rPr lang="en-US" dirty="0"/>
              <a:t> "What is the average interest rate?"</a:t>
            </a:r>
          </a:p>
          <a:p>
            <a:r>
              <a:rPr lang="en-US" b="1" dirty="0"/>
              <a:t>A:</a:t>
            </a:r>
            <a:r>
              <a:rPr lang="en-US" dirty="0"/>
              <a:t> "The retrieved documents do not contain information about interest rates. Available data focuses on demographics and employment only."</a:t>
            </a:r>
          </a:p>
          <a:p>
            <a:r>
              <a:rPr lang="en-US" b="1" dirty="0"/>
              <a:t>✅ Success:</a:t>
            </a:r>
            <a:r>
              <a:rPr lang="en-US" dirty="0"/>
              <a:t> Honest about limitations, cites sources!</a:t>
            </a:r>
          </a:p>
          <a:p>
            <a:r>
              <a:rPr lang="en-US" b="1" dirty="0"/>
              <a:t>📊 Comparison Results:</a:t>
            </a:r>
            <a:endParaRPr lang="en-US" dirty="0"/>
          </a:p>
          <a:p>
            <a:r>
              <a:rPr lang="en-US" b="1" dirty="0"/>
              <a:t>Hallucination Prevention:</a:t>
            </a:r>
            <a:r>
              <a:rPr lang="en-US" dirty="0"/>
              <a:t> 100% effective for out-of-scope questions</a:t>
            </a:r>
          </a:p>
          <a:p>
            <a:r>
              <a:rPr lang="en-US" b="1" dirty="0"/>
              <a:t>Source Attribution:</a:t>
            </a:r>
            <a:r>
              <a:rPr lang="en-US" dirty="0"/>
              <a:t> Every RAG response includes document citations</a:t>
            </a:r>
          </a:p>
          <a:p>
            <a:r>
              <a:rPr lang="en-US" b="1" dirty="0"/>
              <a:t>Factual Accuracy:</a:t>
            </a:r>
            <a:r>
              <a:rPr lang="en-US" dirty="0"/>
              <a:t> RAG responses verifiable through source documents</a:t>
            </a:r>
          </a:p>
          <a:p>
            <a:r>
              <a:rPr lang="en-US" b="1" dirty="0"/>
              <a:t>Consistency:</a:t>
            </a:r>
            <a:r>
              <a:rPr lang="en-US" dirty="0"/>
              <a:t> Repeatable results across multiple queries</a:t>
            </a:r>
          </a:p>
        </p:txBody>
      </p:sp>
    </p:spTree>
    <p:extLst>
      <p:ext uri="{BB962C8B-B14F-4D97-AF65-F5344CB8AC3E}">
        <p14:creationId xmlns:p14="http://schemas.microsoft.com/office/powerpoint/2010/main" val="324830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73F4-AA73-8826-3597-C33ACE93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Neural Network Classification -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CE4A-9515-06CC-E113-60A8DFF65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214" y="1301262"/>
            <a:ext cx="9770094" cy="529883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Loan Approval Prediction System</a:t>
            </a:r>
          </a:p>
          <a:p>
            <a:r>
              <a:rPr lang="en-US" b="1" dirty="0"/>
              <a:t>Dataset Characteristics:</a:t>
            </a:r>
            <a:endParaRPr lang="en-US" dirty="0"/>
          </a:p>
          <a:p>
            <a:r>
              <a:rPr lang="en-US" b="1" dirty="0"/>
              <a:t>Size:</a:t>
            </a:r>
            <a:r>
              <a:rPr lang="en-US" dirty="0"/>
              <a:t> 429 loan applications with 14 features</a:t>
            </a:r>
          </a:p>
          <a:p>
            <a:r>
              <a:rPr lang="en-US" b="1" dirty="0"/>
              <a:t>Target:</a:t>
            </a:r>
            <a:r>
              <a:rPr lang="en-US" dirty="0"/>
              <a:t> Binary classification (Approve/Reject)</a:t>
            </a:r>
          </a:p>
          <a:p>
            <a:r>
              <a:rPr lang="en-US" b="1" dirty="0"/>
              <a:t>Distribution:</a:t>
            </a:r>
            <a:r>
              <a:rPr lang="en-US" dirty="0"/>
              <a:t> 237 rejections (55.2%) vs 192 approvals (44.8%)</a:t>
            </a:r>
          </a:p>
          <a:p>
            <a:r>
              <a:rPr lang="en-US" b="1" dirty="0"/>
              <a:t>Features:</a:t>
            </a:r>
            <a:r>
              <a:rPr lang="en-US" dirty="0"/>
              <a:t> Demographics, employment, financial, residential data</a:t>
            </a:r>
          </a:p>
          <a:p>
            <a:r>
              <a:rPr lang="en-US" b="1" dirty="0"/>
              <a:t>Data Preprocessing Pipeline:</a:t>
            </a:r>
            <a:endParaRPr lang="en-US" dirty="0"/>
          </a:p>
          <a:p>
            <a:r>
              <a:rPr lang="en-US" dirty="0"/>
              <a:t>✅ </a:t>
            </a:r>
            <a:r>
              <a:rPr lang="en-US" b="1" dirty="0"/>
              <a:t>Categorical Encoding:</a:t>
            </a:r>
            <a:r>
              <a:rPr lang="en-US" dirty="0"/>
              <a:t> </a:t>
            </a:r>
            <a:r>
              <a:rPr lang="en-US" dirty="0" err="1"/>
              <a:t>LabelEncoder</a:t>
            </a:r>
            <a:r>
              <a:rPr lang="en-US" dirty="0"/>
              <a:t> for text variables</a:t>
            </a:r>
          </a:p>
          <a:p>
            <a:r>
              <a:rPr lang="en-US" dirty="0"/>
              <a:t>✅ </a:t>
            </a:r>
            <a:r>
              <a:rPr lang="en-US" b="1" dirty="0"/>
              <a:t>Feature Scaling:</a:t>
            </a:r>
            <a:r>
              <a:rPr lang="en-US" dirty="0"/>
              <a:t> </a:t>
            </a:r>
            <a:r>
              <a:rPr lang="en-US" dirty="0" err="1"/>
              <a:t>StandardScaler</a:t>
            </a:r>
            <a:r>
              <a:rPr lang="en-US" dirty="0"/>
              <a:t> for numerical normalization</a:t>
            </a:r>
          </a:p>
          <a:p>
            <a:r>
              <a:rPr lang="en-US" dirty="0"/>
              <a:t>✅ </a:t>
            </a:r>
            <a:r>
              <a:rPr lang="en-US" b="1" dirty="0"/>
              <a:t>Train/Test Split:</a:t>
            </a:r>
            <a:r>
              <a:rPr lang="en-US" dirty="0"/>
              <a:t> 80/20 with stratification</a:t>
            </a:r>
          </a:p>
          <a:p>
            <a:r>
              <a:rPr lang="en-US" dirty="0"/>
              <a:t>✅ </a:t>
            </a:r>
            <a:r>
              <a:rPr lang="en-US" b="1" dirty="0"/>
              <a:t>Data Quality:</a:t>
            </a:r>
            <a:r>
              <a:rPr lang="en-US" dirty="0"/>
              <a:t> Zero missing values, clean dataset</a:t>
            </a:r>
          </a:p>
          <a:p>
            <a:r>
              <a:rPr lang="en-US" b="1" dirty="0"/>
              <a:t>Key Implementation:</a:t>
            </a:r>
            <a:r>
              <a:rPr lang="en-US" dirty="0"/>
              <a:t> Custom </a:t>
            </a:r>
            <a:r>
              <a:rPr lang="en-US" dirty="0" err="1"/>
              <a:t>DataPreprocessor</a:t>
            </a:r>
            <a:r>
              <a:rPr lang="en-US" dirty="0"/>
              <a:t> class with complete pipeline</a:t>
            </a:r>
          </a:p>
        </p:txBody>
      </p:sp>
    </p:spTree>
    <p:extLst>
      <p:ext uri="{BB962C8B-B14F-4D97-AF65-F5344CB8AC3E}">
        <p14:creationId xmlns:p14="http://schemas.microsoft.com/office/powerpoint/2010/main" val="352051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548B-2E0F-3543-7FF4-502ABB376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Experiments &amp;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658A2D-7733-A5BB-8EC9-6278979ADA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55851" y="2090103"/>
          <a:ext cx="7796210" cy="3931920"/>
        </p:xfrm>
        <a:graphic>
          <a:graphicData uri="http://schemas.openxmlformats.org/drawingml/2006/table">
            <a:tbl>
              <a:tblPr/>
              <a:tblGrid>
                <a:gridCol w="1559242">
                  <a:extLst>
                    <a:ext uri="{9D8B030D-6E8A-4147-A177-3AD203B41FA5}">
                      <a16:colId xmlns:a16="http://schemas.microsoft.com/office/drawing/2014/main" val="2598465641"/>
                    </a:ext>
                  </a:extLst>
                </a:gridCol>
                <a:gridCol w="1559242">
                  <a:extLst>
                    <a:ext uri="{9D8B030D-6E8A-4147-A177-3AD203B41FA5}">
                      <a16:colId xmlns:a16="http://schemas.microsoft.com/office/drawing/2014/main" val="4141757891"/>
                    </a:ext>
                  </a:extLst>
                </a:gridCol>
                <a:gridCol w="1559242">
                  <a:extLst>
                    <a:ext uri="{9D8B030D-6E8A-4147-A177-3AD203B41FA5}">
                      <a16:colId xmlns:a16="http://schemas.microsoft.com/office/drawing/2014/main" val="3512430034"/>
                    </a:ext>
                  </a:extLst>
                </a:gridCol>
                <a:gridCol w="1559242">
                  <a:extLst>
                    <a:ext uri="{9D8B030D-6E8A-4147-A177-3AD203B41FA5}">
                      <a16:colId xmlns:a16="http://schemas.microsoft.com/office/drawing/2014/main" val="1445900170"/>
                    </a:ext>
                  </a:extLst>
                </a:gridCol>
                <a:gridCol w="1559242">
                  <a:extLst>
                    <a:ext uri="{9D8B030D-6E8A-4147-A177-3AD203B41FA5}">
                      <a16:colId xmlns:a16="http://schemas.microsoft.com/office/drawing/2014/main" val="1574928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292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ReLU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single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~85%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496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(20, 10)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ReLU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~87%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909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3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(50, 25, 10)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~88%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133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4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(30, 15)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Tanh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Alt 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~86%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517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5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(100, 50, 25)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+ L2 reg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~89%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152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Model 6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(64, 32, 16)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Optimized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~91%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635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36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C3D9-F7B3-8024-35D8-E75BC822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65732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E3FB-C82D-DF41-1C8D-2F0677222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923" y="2052116"/>
            <a:ext cx="9339216" cy="39978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0000" b="1" dirty="0"/>
              <a:t>	Thank you</a:t>
            </a:r>
          </a:p>
        </p:txBody>
      </p:sp>
    </p:spTree>
    <p:extLst>
      <p:ext uri="{BB962C8B-B14F-4D97-AF65-F5344CB8AC3E}">
        <p14:creationId xmlns:p14="http://schemas.microsoft.com/office/powerpoint/2010/main" val="3727873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60</TotalTime>
  <Words>448</Words>
  <Application>Microsoft Macintosh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MS Shell Dlg 2</vt:lpstr>
      <vt:lpstr>Wingdings</vt:lpstr>
      <vt:lpstr>Wingdings 3</vt:lpstr>
      <vt:lpstr>Madison</vt:lpstr>
      <vt:lpstr>Neural Network and RAG Demo  - Sakshi Parikh</vt:lpstr>
      <vt:lpstr>RAG System for Hallucination Prevention</vt:lpstr>
      <vt:lpstr>RAG Results - Hallucination Comparison</vt:lpstr>
      <vt:lpstr>Neural Network Classification - Implementation</vt:lpstr>
      <vt:lpstr>Neural Network Experiments &amp; Results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Parikh</dc:creator>
  <cp:lastModifiedBy>Sakshi Parikh</cp:lastModifiedBy>
  <cp:revision>3</cp:revision>
  <dcterms:created xsi:type="dcterms:W3CDTF">2025-09-17T19:24:08Z</dcterms:created>
  <dcterms:modified xsi:type="dcterms:W3CDTF">2025-09-17T21:02:12Z</dcterms:modified>
</cp:coreProperties>
</file>